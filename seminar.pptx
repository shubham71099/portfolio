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sldIdLst>
    <p:sldId id="256" r:id="rId2"/>
    <p:sldId id="257" r:id="rId3"/>
    <p:sldId id="259" r:id="rId4"/>
    <p:sldId id="283" r:id="rId5"/>
    <p:sldId id="265" r:id="rId6"/>
    <p:sldId id="260" r:id="rId7"/>
    <p:sldId id="262" r:id="rId8"/>
    <p:sldId id="280" r:id="rId9"/>
    <p:sldId id="281" r:id="rId10"/>
    <p:sldId id="279" r:id="rId11"/>
    <p:sldId id="261" r:id="rId12"/>
    <p:sldId id="282" r:id="rId13"/>
    <p:sldId id="263" r:id="rId14"/>
    <p:sldId id="264" r:id="rId15"/>
    <p:sldId id="266" r:id="rId16"/>
    <p:sldId id="267" r:id="rId17"/>
    <p:sldId id="268" r:id="rId18"/>
    <p:sldId id="276" r:id="rId19"/>
    <p:sldId id="277" r:id="rId20"/>
    <p:sldId id="27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27E6610-9657-4BCE-8679-E366C05B1952}">
          <p14:sldIdLst>
            <p14:sldId id="256"/>
            <p14:sldId id="257"/>
            <p14:sldId id="259"/>
            <p14:sldId id="283"/>
            <p14:sldId id="265"/>
            <p14:sldId id="260"/>
            <p14:sldId id="262"/>
            <p14:sldId id="280"/>
            <p14:sldId id="281"/>
            <p14:sldId id="279"/>
            <p14:sldId id="261"/>
            <p14:sldId id="282"/>
            <p14:sldId id="263"/>
            <p14:sldId id="264"/>
            <p14:sldId id="266"/>
            <p14:sldId id="267"/>
            <p14:sldId id="268"/>
            <p14:sldId id="276"/>
            <p14:sldId id="277"/>
            <p14:sldId id="278"/>
          </p14:sldIdLst>
        </p14:section>
        <p14:section name="Untitled Section" id="{2A1FF95C-1BA1-4F91-98CB-4DD5B5A819C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showGuides="1">
      <p:cViewPr>
        <p:scale>
          <a:sx n="66" d="100"/>
          <a:sy n="66" d="100"/>
        </p:scale>
        <p:origin x="1320" y="31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794847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2541868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946992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17F3B8-1416-47A4-A388-2AF6DA3C50CB}" type="datetimeFigureOut">
              <a:rPr lang="en-IN" smtClean="0"/>
              <a:t>19-10-2024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367494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17F3B8-1416-47A4-A388-2AF6DA3C50CB}" type="datetimeFigureOut">
              <a:rPr lang="en-IN" smtClean="0"/>
              <a:t>19-10-2024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2975407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17F3B8-1416-47A4-A388-2AF6DA3C50CB}" type="datetimeFigureOut">
              <a:rPr lang="en-IN" smtClean="0"/>
              <a:t>19-10-2024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367825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17F3B8-1416-47A4-A388-2AF6DA3C50CB}" type="datetimeFigureOut">
              <a:rPr lang="en-IN" smtClean="0"/>
              <a:t>19-10-2024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2274669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17F3B8-1416-47A4-A388-2AF6DA3C50CB}" type="datetimeFigureOut">
              <a:rPr lang="en-IN" smtClean="0"/>
              <a:t>19-10-2024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2124817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17F3B8-1416-47A4-A388-2AF6DA3C50CB}" type="datetimeFigureOut">
              <a:rPr lang="en-IN" smtClean="0"/>
              <a:t>19-10-2024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102362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17F3B8-1416-47A4-A388-2AF6DA3C50CB}" type="datetimeFigureOut">
              <a:rPr lang="en-IN" smtClean="0"/>
              <a:t>19-10-2024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3382704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1850413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4207581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185646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387178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3342202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394085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7F3B8-1416-47A4-A388-2AF6DA3C50CB}" type="datetimeFigureOut">
              <a:rPr lang="en-IN" smtClean="0"/>
              <a:t>19-10-2024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B20D53-9F04-4C2B-AA2C-5E0E8D51798B}" type="slidenum">
              <a:rPr lang="en-IN" smtClean="0"/>
              <a:t>‹#›</a:t>
            </a:fld>
            <a:endParaRPr lang="en-IN"/>
          </a:p>
        </p:txBody>
      </p:sp>
    </p:spTree>
    <p:extLst>
      <p:ext uri="{BB962C8B-B14F-4D97-AF65-F5344CB8AC3E}">
        <p14:creationId xmlns:p14="http://schemas.microsoft.com/office/powerpoint/2010/main" val="2633091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517F3B8-1416-47A4-A388-2AF6DA3C50CB}" type="datetimeFigureOut">
              <a:rPr lang="en-IN" smtClean="0"/>
              <a:t>19-10-2024</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DB20D53-9F04-4C2B-AA2C-5E0E8D51798B}" type="slidenum">
              <a:rPr lang="en-IN" smtClean="0"/>
              <a:t>‹#›</a:t>
            </a:fld>
            <a:endParaRPr lang="en-IN"/>
          </a:p>
        </p:txBody>
      </p:sp>
    </p:spTree>
    <p:extLst>
      <p:ext uri="{BB962C8B-B14F-4D97-AF65-F5344CB8AC3E}">
        <p14:creationId xmlns:p14="http://schemas.microsoft.com/office/powerpoint/2010/main" val="2370028435"/>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igitalmarketinginstitute.com/blog/what-is-inbound-marketing" TargetMode="External"/><Relationship Id="rId2" Type="http://schemas.openxmlformats.org/officeDocument/2006/relationships/hyperlink" Target="https://www.hubspot.com/inbound-marketing" TargetMode="External"/><Relationship Id="rId1" Type="http://schemas.openxmlformats.org/officeDocument/2006/relationships/slideLayout" Target="../slideLayouts/slideLayout7.xml"/><Relationship Id="rId4" Type="http://schemas.openxmlformats.org/officeDocument/2006/relationships/hyperlink" Target="https://advertising.amazon.com/library/guides/inbound-market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79E8-5AE2-90A5-EF3F-9303C737C4CA}"/>
              </a:ext>
            </a:extLst>
          </p:cNvPr>
          <p:cNvSpPr>
            <a:spLocks noGrp="1"/>
          </p:cNvSpPr>
          <p:nvPr>
            <p:ph type="ctrTitle"/>
          </p:nvPr>
        </p:nvSpPr>
        <p:spPr>
          <a:xfrm>
            <a:off x="1751198" y="1849899"/>
            <a:ext cx="9359591" cy="1557867"/>
          </a:xfrm>
        </p:spPr>
        <p:txBody>
          <a:bodyPr>
            <a:noAutofit/>
          </a:bodyPr>
          <a:lstStyle/>
          <a:p>
            <a:r>
              <a:rPr lang="en-IN" sz="7000" b="1" dirty="0"/>
              <a:t>INBOUND MARKETING </a:t>
            </a:r>
          </a:p>
        </p:txBody>
      </p:sp>
      <p:sp>
        <p:nvSpPr>
          <p:cNvPr id="3" name="Subtitle 2">
            <a:extLst>
              <a:ext uri="{FF2B5EF4-FFF2-40B4-BE49-F238E27FC236}">
                <a16:creationId xmlns:a16="http://schemas.microsoft.com/office/drawing/2014/main" id="{D0C90E55-6509-0298-AE4D-FFBD37A7CC2A}"/>
              </a:ext>
            </a:extLst>
          </p:cNvPr>
          <p:cNvSpPr>
            <a:spLocks noGrp="1"/>
          </p:cNvSpPr>
          <p:nvPr>
            <p:ph type="subTitle" idx="1"/>
          </p:nvPr>
        </p:nvSpPr>
        <p:spPr>
          <a:xfrm>
            <a:off x="5230761" y="4099506"/>
            <a:ext cx="6400800" cy="1726107"/>
          </a:xfrm>
        </p:spPr>
        <p:txBody>
          <a:bodyPr>
            <a:normAutofit/>
          </a:bodyPr>
          <a:lstStyle/>
          <a:p>
            <a:r>
              <a:rPr lang="en-IN" sz="2600" b="1" dirty="0"/>
              <a:t>Present By :</a:t>
            </a:r>
          </a:p>
          <a:p>
            <a:r>
              <a:rPr lang="en-IN" sz="2600" dirty="0">
                <a:latin typeface="Times New Roman" panose="02020603050405020304" pitchFamily="18" charset="0"/>
                <a:cs typeface="Times New Roman" panose="02020603050405020304" pitchFamily="18" charset="0"/>
              </a:rPr>
              <a:t>SHUBHAM JHA - ET23MTCA020</a:t>
            </a:r>
          </a:p>
          <a:p>
            <a:r>
              <a:rPr lang="en-IN" sz="2600" dirty="0">
                <a:latin typeface="Times New Roman" panose="02020603050405020304" pitchFamily="18" charset="0"/>
                <a:cs typeface="Times New Roman" panose="02020603050405020304" pitchFamily="18" charset="0"/>
              </a:rPr>
              <a:t>KHUSHAL SOLANKI - ET23MTCA062</a:t>
            </a:r>
          </a:p>
        </p:txBody>
      </p:sp>
      <p:sp>
        <p:nvSpPr>
          <p:cNvPr id="4" name="Google Shape;128;p13">
            <a:extLst>
              <a:ext uri="{FF2B5EF4-FFF2-40B4-BE49-F238E27FC236}">
                <a16:creationId xmlns:a16="http://schemas.microsoft.com/office/drawing/2014/main" id="{5CA4F711-85C5-0AC7-0824-EC7A12CC5583}"/>
              </a:ext>
            </a:extLst>
          </p:cNvPr>
          <p:cNvSpPr txBox="1"/>
          <p:nvPr>
            <p:custDataLst>
              <p:tags r:id="rId1"/>
            </p:custDataLst>
          </p:nvPr>
        </p:nvSpPr>
        <p:spPr>
          <a:xfrm>
            <a:off x="2239794" y="377058"/>
            <a:ext cx="8382400" cy="1054000"/>
          </a:xfrm>
          <a:prstGeom prst="rect">
            <a:avLst/>
          </a:prstGeom>
          <a:noFill/>
          <a:ln w="9525">
            <a:noFill/>
          </a:ln>
        </p:spPr>
        <p:txBody>
          <a:bodyPr wrap="square" lIns="121900" tIns="121900" rIns="121900" bIns="121900" anchor="ctr" anchorCtr="0">
            <a:noAutofit/>
          </a:bodyPr>
          <a:lstStyle>
            <a:lvl1pPr lvl="0" algn="l" rtl="0" fontAlgn="base">
              <a:spcBef>
                <a:spcPts val="0"/>
              </a:spcBef>
              <a:spcAft>
                <a:spcPts val="0"/>
              </a:spcAft>
              <a:buSzPts val="3000"/>
              <a:buNone/>
              <a:defRPr sz="4000" kern="1200">
                <a:solidFill>
                  <a:schemeClr val="tx1"/>
                </a:solidFill>
                <a:latin typeface="+mj-lt"/>
                <a:ea typeface="+mj-ea"/>
                <a:cs typeface="+mj-cs"/>
              </a:defRPr>
            </a:lvl1pPr>
            <a:lvl2pPr lvl="1" algn="l" rtl="0" fontAlgn="base">
              <a:spcBef>
                <a:spcPts val="0"/>
              </a:spcBef>
              <a:spcAft>
                <a:spcPts val="0"/>
              </a:spcAft>
              <a:buSzPts val="3000"/>
              <a:buNone/>
              <a:defRPr sz="4000">
                <a:solidFill>
                  <a:schemeClr val="tx1"/>
                </a:solidFill>
                <a:latin typeface="Arial" panose="020B0604020202020204" pitchFamily="34" charset="0"/>
                <a:ea typeface="SimSun" panose="02010600030101010101" pitchFamily="2" charset="-122"/>
              </a:defRPr>
            </a:lvl2pPr>
            <a:lvl3pPr lvl="2" algn="l" rtl="0" fontAlgn="base">
              <a:spcBef>
                <a:spcPts val="0"/>
              </a:spcBef>
              <a:spcAft>
                <a:spcPts val="0"/>
              </a:spcAft>
              <a:buSzPts val="3000"/>
              <a:buNone/>
              <a:defRPr sz="4000">
                <a:solidFill>
                  <a:schemeClr val="tx1"/>
                </a:solidFill>
                <a:latin typeface="Arial" panose="020B0604020202020204" pitchFamily="34" charset="0"/>
                <a:ea typeface="SimSun" panose="02010600030101010101" pitchFamily="2" charset="-122"/>
              </a:defRPr>
            </a:lvl3pPr>
            <a:lvl4pPr lvl="3" algn="l" rtl="0" fontAlgn="base">
              <a:spcBef>
                <a:spcPts val="0"/>
              </a:spcBef>
              <a:spcAft>
                <a:spcPts val="0"/>
              </a:spcAft>
              <a:buSzPts val="3000"/>
              <a:buNone/>
              <a:defRPr sz="4000">
                <a:solidFill>
                  <a:schemeClr val="tx1"/>
                </a:solidFill>
                <a:latin typeface="Arial" panose="020B0604020202020204" pitchFamily="34" charset="0"/>
                <a:ea typeface="SimSun" panose="02010600030101010101" pitchFamily="2" charset="-122"/>
              </a:defRPr>
            </a:lvl4pPr>
            <a:lvl5pPr lvl="4" algn="l" rtl="0" fontAlgn="base">
              <a:spcBef>
                <a:spcPts val="0"/>
              </a:spcBef>
              <a:spcAft>
                <a:spcPts val="0"/>
              </a:spcAft>
              <a:buSzPts val="3000"/>
              <a:buNone/>
              <a:defRPr sz="4000">
                <a:solidFill>
                  <a:schemeClr val="tx1"/>
                </a:solidFill>
                <a:latin typeface="Arial" panose="020B0604020202020204" pitchFamily="34" charset="0"/>
                <a:ea typeface="SimSun" panose="02010600030101010101" pitchFamily="2" charset="-122"/>
              </a:defRPr>
            </a:lvl5pPr>
            <a:lvl6pPr marL="457200" lvl="5" algn="l" rtl="0" fontAlgn="base">
              <a:spcBef>
                <a:spcPts val="0"/>
              </a:spcBef>
              <a:spcAft>
                <a:spcPts val="0"/>
              </a:spcAft>
              <a:buSzPts val="3000"/>
              <a:buNone/>
              <a:defRPr sz="4000">
                <a:solidFill>
                  <a:schemeClr val="tx1"/>
                </a:solidFill>
                <a:latin typeface="Arial" panose="020B0604020202020204" pitchFamily="34" charset="0"/>
                <a:ea typeface="SimSun" panose="02010600030101010101" pitchFamily="2" charset="-122"/>
              </a:defRPr>
            </a:lvl6pPr>
            <a:lvl7pPr marL="914400" lvl="6" algn="l" rtl="0" fontAlgn="base">
              <a:spcBef>
                <a:spcPts val="0"/>
              </a:spcBef>
              <a:spcAft>
                <a:spcPts val="0"/>
              </a:spcAft>
              <a:buSzPts val="3000"/>
              <a:buNone/>
              <a:defRPr sz="4000">
                <a:solidFill>
                  <a:schemeClr val="tx1"/>
                </a:solidFill>
                <a:latin typeface="Arial" panose="020B0604020202020204" pitchFamily="34" charset="0"/>
                <a:ea typeface="SimSun" panose="02010600030101010101" pitchFamily="2" charset="-122"/>
              </a:defRPr>
            </a:lvl7pPr>
            <a:lvl8pPr marL="1371600" lvl="7" algn="l" rtl="0" fontAlgn="base">
              <a:spcBef>
                <a:spcPts val="0"/>
              </a:spcBef>
              <a:spcAft>
                <a:spcPts val="0"/>
              </a:spcAft>
              <a:buSzPts val="3000"/>
              <a:buNone/>
              <a:defRPr sz="4000">
                <a:solidFill>
                  <a:schemeClr val="tx1"/>
                </a:solidFill>
                <a:latin typeface="Arial" panose="020B0604020202020204" pitchFamily="34" charset="0"/>
                <a:ea typeface="SimSun" panose="02010600030101010101" pitchFamily="2" charset="-122"/>
              </a:defRPr>
            </a:lvl8pPr>
            <a:lvl9pPr marL="1828800" lvl="8" algn="l" rtl="0" fontAlgn="base">
              <a:spcBef>
                <a:spcPts val="0"/>
              </a:spcBef>
              <a:spcAft>
                <a:spcPts val="0"/>
              </a:spcAft>
              <a:buSzPts val="3000"/>
              <a:buNone/>
              <a:defRPr sz="4000">
                <a:solidFill>
                  <a:schemeClr val="tx1"/>
                </a:solidFill>
                <a:latin typeface="Arial" panose="020B0604020202020204" pitchFamily="34" charset="0"/>
                <a:ea typeface="SimSun" panose="02010600030101010101" pitchFamily="2" charset="-122"/>
              </a:defRPr>
            </a:lvl9pPr>
          </a:lstStyle>
          <a:p>
            <a:pPr marL="0" lvl="0" indent="0" algn="ctr" rtl="0">
              <a:spcBef>
                <a:spcPts val="0"/>
              </a:spcBef>
              <a:spcAft>
                <a:spcPts val="0"/>
              </a:spcAft>
              <a:buClr>
                <a:schemeClr val="dk1"/>
              </a:buClr>
              <a:buSzPts val="990"/>
              <a:buFont typeface="Arial" panose="020B0604020202020204"/>
              <a:buNone/>
            </a:pPr>
            <a:r>
              <a:rPr lang="en-GB" sz="258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Sarvajanik College of Engineering &amp; Technology, Surat.</a:t>
            </a:r>
            <a:endParaRPr sz="2640"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Clr>
                <a:schemeClr val="dk1"/>
              </a:buClr>
              <a:buSzPts val="990"/>
              <a:buFont typeface="Arial" panose="020B0604020202020204"/>
              <a:buNone/>
            </a:pPr>
            <a:r>
              <a:rPr lang="en-GB" sz="22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Master of Computer Application Departments</a:t>
            </a:r>
            <a:endParaRPr sz="2200"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457200" algn="ctr" rtl="0">
              <a:spcBef>
                <a:spcPts val="0"/>
              </a:spcBef>
              <a:spcAft>
                <a:spcPts val="0"/>
              </a:spcAft>
              <a:buClr>
                <a:schemeClr val="dk1"/>
              </a:buClr>
              <a:buSzPts val="990"/>
              <a:buFont typeface="Arial" panose="020B0604020202020204"/>
              <a:buNone/>
            </a:pPr>
            <a:r>
              <a:rPr lang="en-GB" sz="22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Academic Year 2024-25</a:t>
            </a:r>
            <a:endParaRPr sz="2200" b="1" dirty="0">
              <a:solidFill>
                <a:srgbClr val="000000"/>
              </a:solidFill>
            </a:endParaRPr>
          </a:p>
        </p:txBody>
      </p:sp>
      <p:pic>
        <p:nvPicPr>
          <p:cNvPr id="6" name="Google Shape;131;p13">
            <a:extLst>
              <a:ext uri="{FF2B5EF4-FFF2-40B4-BE49-F238E27FC236}">
                <a16:creationId xmlns:a16="http://schemas.microsoft.com/office/drawing/2014/main" id="{A9BE104E-4BA7-0941-7DBB-7C4AB49B537E}"/>
              </a:ext>
            </a:extLst>
          </p:cNvPr>
          <p:cNvPicPr preferRelativeResize="0"/>
          <p:nvPr>
            <p:custDataLst>
              <p:tags r:id="rId2"/>
            </p:custDataLst>
          </p:nvPr>
        </p:nvPicPr>
        <p:blipFill>
          <a:blip r:embed="rId5"/>
          <a:stretch>
            <a:fillRect/>
          </a:stretch>
        </p:blipFill>
        <p:spPr>
          <a:xfrm>
            <a:off x="10915783" y="354154"/>
            <a:ext cx="860105" cy="804005"/>
          </a:xfrm>
          <a:prstGeom prst="rect">
            <a:avLst/>
          </a:prstGeom>
          <a:noFill/>
          <a:ln>
            <a:noFill/>
          </a:ln>
        </p:spPr>
      </p:pic>
      <p:pic>
        <p:nvPicPr>
          <p:cNvPr id="7" name="Google Shape;130;p13" descr="C:\Users\prachi\Desktop\SCET\others\su-png.png">
            <a:extLst>
              <a:ext uri="{FF2B5EF4-FFF2-40B4-BE49-F238E27FC236}">
                <a16:creationId xmlns:a16="http://schemas.microsoft.com/office/drawing/2014/main" id="{7DBB34AA-E022-254D-C899-D1515CC44659}"/>
              </a:ext>
            </a:extLst>
          </p:cNvPr>
          <p:cNvPicPr preferRelativeResize="0"/>
          <p:nvPr>
            <p:custDataLst>
              <p:tags r:id="rId3"/>
            </p:custDataLst>
          </p:nvPr>
        </p:nvPicPr>
        <p:blipFill rotWithShape="1">
          <a:blip r:embed="rId6"/>
          <a:srcRect r="53673" b="14471"/>
          <a:stretch>
            <a:fillRect/>
          </a:stretch>
        </p:blipFill>
        <p:spPr>
          <a:xfrm>
            <a:off x="201272" y="331350"/>
            <a:ext cx="778225" cy="826809"/>
          </a:xfrm>
          <a:prstGeom prst="rect">
            <a:avLst/>
          </a:prstGeom>
          <a:noFill/>
          <a:ln>
            <a:noFill/>
          </a:ln>
        </p:spPr>
      </p:pic>
    </p:spTree>
    <p:extLst>
      <p:ext uri="{BB962C8B-B14F-4D97-AF65-F5344CB8AC3E}">
        <p14:creationId xmlns:p14="http://schemas.microsoft.com/office/powerpoint/2010/main" val="3761585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79E8-5AE2-90A5-EF3F-9303C737C4CA}"/>
              </a:ext>
            </a:extLst>
          </p:cNvPr>
          <p:cNvSpPr>
            <a:spLocks noGrp="1"/>
          </p:cNvSpPr>
          <p:nvPr>
            <p:ph type="ctrTitle"/>
          </p:nvPr>
        </p:nvSpPr>
        <p:spPr>
          <a:xfrm>
            <a:off x="3529781" y="553065"/>
            <a:ext cx="5132437" cy="1197077"/>
          </a:xfrm>
        </p:spPr>
        <p:txBody>
          <a:bodyPr/>
          <a:lstStyle/>
          <a:p>
            <a:r>
              <a:rPr lang="en-US"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0C90E55-6509-0298-AE4D-FFBD37A7CC2A}"/>
              </a:ext>
            </a:extLst>
          </p:cNvPr>
          <p:cNvSpPr>
            <a:spLocks noGrp="1"/>
          </p:cNvSpPr>
          <p:nvPr>
            <p:ph type="subTitle" idx="1"/>
          </p:nvPr>
        </p:nvSpPr>
        <p:spPr>
          <a:xfrm>
            <a:off x="4404852" y="2303205"/>
            <a:ext cx="5869857" cy="3832124"/>
          </a:xfrm>
        </p:spPr>
        <p:txBody>
          <a:bodyPr>
            <a:normAutofit fontScale="92500" lnSpcReduction="10000"/>
          </a:bodyPr>
          <a:lstStyle/>
          <a:p>
            <a:pPr marL="342900" indent="-342900" algn="l">
              <a:buFont typeface="Wingdings" panose="05000000000000000000" pitchFamily="2" charset="2"/>
              <a:buChar char="§"/>
            </a:pPr>
            <a:r>
              <a:rPr lang="en-US" sz="2400" dirty="0"/>
              <a:t>What is Inbound Marketing ?</a:t>
            </a:r>
          </a:p>
          <a:p>
            <a:pPr marL="342900" indent="-342900" algn="l">
              <a:buFont typeface="Wingdings" panose="05000000000000000000" pitchFamily="2" charset="2"/>
              <a:buChar char="§"/>
            </a:pPr>
            <a:r>
              <a:rPr lang="en-US" sz="2400" dirty="0"/>
              <a:t>Inbound Vs Outbound Marketing</a:t>
            </a:r>
          </a:p>
          <a:p>
            <a:pPr marL="342900" indent="-342900" algn="l">
              <a:buFont typeface="Wingdings" panose="05000000000000000000" pitchFamily="2" charset="2"/>
              <a:buChar char="§"/>
            </a:pPr>
            <a:r>
              <a:rPr lang="en-US" sz="2400" dirty="0"/>
              <a:t>What Makes Inbound Different ?</a:t>
            </a:r>
          </a:p>
          <a:p>
            <a:pPr marL="342900" indent="-342900" algn="l">
              <a:buFont typeface="Wingdings" panose="05000000000000000000" pitchFamily="2" charset="2"/>
              <a:buChar char="§"/>
            </a:pPr>
            <a:r>
              <a:rPr lang="en-US" sz="2400" dirty="0"/>
              <a:t>Inbound  Methodology</a:t>
            </a:r>
          </a:p>
          <a:p>
            <a:pPr marL="342900" indent="-342900" algn="l">
              <a:buFont typeface="Wingdings" panose="05000000000000000000" pitchFamily="2" charset="2"/>
              <a:buChar char="§"/>
            </a:pPr>
            <a:r>
              <a:rPr lang="en-US" sz="2400" dirty="0"/>
              <a:t>Characteristics of Inbound Marketing</a:t>
            </a:r>
          </a:p>
          <a:p>
            <a:pPr marL="342900" indent="-342900" algn="l">
              <a:buFont typeface="Wingdings" panose="05000000000000000000" pitchFamily="2" charset="2"/>
              <a:buChar char="§"/>
            </a:pPr>
            <a:r>
              <a:rPr lang="en-US" sz="2400" dirty="0"/>
              <a:t> Ways of Inbound Marketing</a:t>
            </a:r>
          </a:p>
          <a:p>
            <a:pPr marL="342900" indent="-342900" algn="l">
              <a:buFont typeface="Wingdings" panose="05000000000000000000" pitchFamily="2" charset="2"/>
              <a:buChar char="§"/>
            </a:pPr>
            <a:r>
              <a:rPr lang="en-US" sz="2400" dirty="0"/>
              <a:t>Advantages of Inbound Marketing</a:t>
            </a:r>
          </a:p>
          <a:p>
            <a:pPr marL="342900" indent="-342900" algn="l">
              <a:buFont typeface="Wingdings" panose="05000000000000000000" pitchFamily="2" charset="2"/>
              <a:buChar char="§"/>
            </a:pPr>
            <a:r>
              <a:rPr lang="en-US" sz="2400" dirty="0"/>
              <a:t>References </a:t>
            </a:r>
          </a:p>
          <a:p>
            <a:endParaRPr lang="en-US" sz="2400" dirty="0"/>
          </a:p>
          <a:p>
            <a:endParaRPr lang="en-US" sz="2400" dirty="0"/>
          </a:p>
        </p:txBody>
      </p:sp>
    </p:spTree>
    <p:extLst>
      <p:ext uri="{BB962C8B-B14F-4D97-AF65-F5344CB8AC3E}">
        <p14:creationId xmlns:p14="http://schemas.microsoft.com/office/powerpoint/2010/main" val="1335968085"/>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79E8-5AE2-90A5-EF3F-9303C737C4CA}"/>
              </a:ext>
            </a:extLst>
          </p:cNvPr>
          <p:cNvSpPr>
            <a:spLocks noGrp="1"/>
          </p:cNvSpPr>
          <p:nvPr>
            <p:ph type="ctrTitle"/>
          </p:nvPr>
        </p:nvSpPr>
        <p:spPr>
          <a:xfrm>
            <a:off x="2438402" y="255502"/>
            <a:ext cx="9291483" cy="1475385"/>
          </a:xfrm>
        </p:spPr>
        <p:txBody>
          <a:bodyPr>
            <a:normAutofit/>
          </a:bodyPr>
          <a:lstStyle/>
          <a:p>
            <a:pPr algn="l"/>
            <a:r>
              <a:rPr lang="en-US" dirty="0"/>
              <a:t>What is Inbound Marketing ?</a:t>
            </a:r>
            <a:endParaRPr lang="en-IN" dirty="0"/>
          </a:p>
        </p:txBody>
      </p:sp>
      <p:sp>
        <p:nvSpPr>
          <p:cNvPr id="3" name="Subtitle 2">
            <a:extLst>
              <a:ext uri="{FF2B5EF4-FFF2-40B4-BE49-F238E27FC236}">
                <a16:creationId xmlns:a16="http://schemas.microsoft.com/office/drawing/2014/main" id="{D0C90E55-6509-0298-AE4D-FFBD37A7CC2A}"/>
              </a:ext>
            </a:extLst>
          </p:cNvPr>
          <p:cNvSpPr>
            <a:spLocks noGrp="1"/>
          </p:cNvSpPr>
          <p:nvPr>
            <p:ph type="subTitle" idx="1"/>
          </p:nvPr>
        </p:nvSpPr>
        <p:spPr>
          <a:xfrm>
            <a:off x="3352800" y="2259166"/>
            <a:ext cx="7649497" cy="2312834"/>
          </a:xfrm>
        </p:spPr>
        <p:txBody>
          <a:bodyPr>
            <a:noAutofit/>
          </a:bodyPr>
          <a:lstStyle/>
          <a:p>
            <a:pPr marL="342900" indent="-342900" algn="l">
              <a:buFont typeface="Arial" panose="020B0604020202020204" pitchFamily="34" charset="0"/>
              <a:buChar char="•"/>
            </a:pPr>
            <a:r>
              <a:rPr lang="en-US" sz="2600" dirty="0"/>
              <a:t>Inbound Marketing  is a business methodology that attracts customers by creating valuable content and experiences  tailored  to them.</a:t>
            </a:r>
          </a:p>
          <a:p>
            <a:pPr marL="342900" indent="-342900" algn="l">
              <a:buFont typeface="Arial" panose="020B0604020202020204" pitchFamily="34" charset="0"/>
              <a:buChar char="•"/>
            </a:pPr>
            <a:r>
              <a:rPr lang="en-US" sz="2600" dirty="0"/>
              <a:t>A method of building relationships with customers by valuing and empowering their goals.</a:t>
            </a:r>
            <a:endParaRPr lang="en-IN" sz="2600" dirty="0"/>
          </a:p>
        </p:txBody>
      </p:sp>
      <p:pic>
        <p:nvPicPr>
          <p:cNvPr id="6" name="Picture 5">
            <a:extLst>
              <a:ext uri="{FF2B5EF4-FFF2-40B4-BE49-F238E27FC236}">
                <a16:creationId xmlns:a16="http://schemas.microsoft.com/office/drawing/2014/main" id="{06DD6547-0FC4-2673-9C4A-EBA8BCBEF1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6953" y="4807974"/>
            <a:ext cx="3895048" cy="2050026"/>
          </a:xfrm>
          <a:prstGeom prst="rect">
            <a:avLst/>
          </a:prstGeom>
        </p:spPr>
      </p:pic>
    </p:spTree>
    <p:extLst>
      <p:ext uri="{BB962C8B-B14F-4D97-AF65-F5344CB8AC3E}">
        <p14:creationId xmlns:p14="http://schemas.microsoft.com/office/powerpoint/2010/main" val="127715181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79E8-5AE2-90A5-EF3F-9303C737C4CA}"/>
              </a:ext>
            </a:extLst>
          </p:cNvPr>
          <p:cNvSpPr>
            <a:spLocks noGrp="1"/>
          </p:cNvSpPr>
          <p:nvPr>
            <p:ph type="ctrTitle"/>
          </p:nvPr>
        </p:nvSpPr>
        <p:spPr>
          <a:xfrm>
            <a:off x="3352799" y="216310"/>
            <a:ext cx="7649497" cy="1229442"/>
          </a:xfrm>
        </p:spPr>
        <p:txBody>
          <a:bodyPr>
            <a:normAutofit/>
          </a:bodyPr>
          <a:lstStyle/>
          <a:p>
            <a:pPr algn="l"/>
            <a:r>
              <a:rPr lang="en-US" dirty="0"/>
              <a:t>Inbound  Vs  Outbound</a:t>
            </a:r>
            <a:endParaRPr lang="en-IN" dirty="0"/>
          </a:p>
        </p:txBody>
      </p:sp>
      <p:sp>
        <p:nvSpPr>
          <p:cNvPr id="3" name="Subtitle 2">
            <a:extLst>
              <a:ext uri="{FF2B5EF4-FFF2-40B4-BE49-F238E27FC236}">
                <a16:creationId xmlns:a16="http://schemas.microsoft.com/office/drawing/2014/main" id="{D0C90E55-6509-0298-AE4D-FFBD37A7CC2A}"/>
              </a:ext>
            </a:extLst>
          </p:cNvPr>
          <p:cNvSpPr>
            <a:spLocks noGrp="1"/>
          </p:cNvSpPr>
          <p:nvPr>
            <p:ph type="subTitle" idx="1"/>
          </p:nvPr>
        </p:nvSpPr>
        <p:spPr>
          <a:xfrm>
            <a:off x="3352798" y="2033023"/>
            <a:ext cx="7944467" cy="3207571"/>
          </a:xfrm>
        </p:spPr>
        <p:txBody>
          <a:bodyPr>
            <a:noAutofit/>
          </a:bodyPr>
          <a:lstStyle/>
          <a:p>
            <a:pPr marL="342900" indent="-342900" algn="l">
              <a:buFont typeface="Arial" panose="020B0604020202020204" pitchFamily="34" charset="0"/>
              <a:buChar char="•"/>
            </a:pPr>
            <a:r>
              <a:rPr lang="en-US" sz="2600" b="1" dirty="0"/>
              <a:t>Inbound Marketing  :</a:t>
            </a:r>
            <a:r>
              <a:rPr lang="en-US" sz="2600" dirty="0"/>
              <a:t> Inbound is a strategy that focuses on attracting customers via company created contents.</a:t>
            </a:r>
          </a:p>
          <a:p>
            <a:pPr algn="l"/>
            <a:endParaRPr lang="en-US" sz="2600" dirty="0"/>
          </a:p>
          <a:p>
            <a:pPr marL="342900" indent="-342900" algn="l">
              <a:buFont typeface="Arial" panose="020B0604020202020204" pitchFamily="34" charset="0"/>
              <a:buChar char="•"/>
            </a:pPr>
            <a:r>
              <a:rPr lang="en-US" sz="2600" b="1" dirty="0"/>
              <a:t>Outbound Marketing : </a:t>
            </a:r>
            <a:r>
              <a:rPr lang="en-US" sz="2600" dirty="0"/>
              <a:t>Outbound is when a marketer reaches out to people to see if they are interested in a product.</a:t>
            </a:r>
            <a:endParaRPr lang="en-IN" sz="2600" dirty="0"/>
          </a:p>
        </p:txBody>
      </p:sp>
    </p:spTree>
    <p:extLst>
      <p:ext uri="{BB962C8B-B14F-4D97-AF65-F5344CB8AC3E}">
        <p14:creationId xmlns:p14="http://schemas.microsoft.com/office/powerpoint/2010/main" val="131071559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45A03-0B29-BA0D-311E-9E54EE436BDD}"/>
              </a:ext>
            </a:extLst>
          </p:cNvPr>
          <p:cNvSpPr>
            <a:spLocks noGrp="1"/>
          </p:cNvSpPr>
          <p:nvPr>
            <p:ph type="title"/>
          </p:nvPr>
        </p:nvSpPr>
        <p:spPr>
          <a:xfrm>
            <a:off x="1631795" y="368174"/>
            <a:ext cx="10481547" cy="1752599"/>
          </a:xfrm>
        </p:spPr>
        <p:txBody>
          <a:bodyPr>
            <a:noAutofit/>
          </a:bodyPr>
          <a:lstStyle/>
          <a:p>
            <a:r>
              <a:rPr lang="en-IN" sz="5500" dirty="0"/>
              <a:t>What Makes Inbound Different?</a:t>
            </a:r>
          </a:p>
        </p:txBody>
      </p:sp>
      <p:sp>
        <p:nvSpPr>
          <p:cNvPr id="3" name="Text Placeholder 2">
            <a:extLst>
              <a:ext uri="{FF2B5EF4-FFF2-40B4-BE49-F238E27FC236}">
                <a16:creationId xmlns:a16="http://schemas.microsoft.com/office/drawing/2014/main" id="{07C79914-57B1-94F2-7C84-F02D7DA7F873}"/>
              </a:ext>
            </a:extLst>
          </p:cNvPr>
          <p:cNvSpPr>
            <a:spLocks noGrp="1"/>
          </p:cNvSpPr>
          <p:nvPr>
            <p:ph type="body" idx="1"/>
          </p:nvPr>
        </p:nvSpPr>
        <p:spPr>
          <a:xfrm>
            <a:off x="1737464" y="2438399"/>
            <a:ext cx="4607188" cy="576262"/>
          </a:xfrm>
        </p:spPr>
        <p:txBody>
          <a:bodyPr/>
          <a:lstStyle/>
          <a:p>
            <a:pPr algn="ctr"/>
            <a:r>
              <a:rPr lang="en-IN" sz="3200" dirty="0"/>
              <a:t>Traditional (Outbound)</a:t>
            </a:r>
            <a:r>
              <a:rPr lang="en-IN" dirty="0"/>
              <a:t> </a:t>
            </a:r>
          </a:p>
        </p:txBody>
      </p:sp>
      <p:pic>
        <p:nvPicPr>
          <p:cNvPr id="8" name="Content Placeholder 7">
            <a:extLst>
              <a:ext uri="{FF2B5EF4-FFF2-40B4-BE49-F238E27FC236}">
                <a16:creationId xmlns:a16="http://schemas.microsoft.com/office/drawing/2014/main" id="{5984DE28-AE48-914F-93EF-B7112951962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rot="20571767">
            <a:off x="3544383" y="3649612"/>
            <a:ext cx="993349" cy="993349"/>
          </a:xfrm>
        </p:spPr>
      </p:pic>
      <p:sp>
        <p:nvSpPr>
          <p:cNvPr id="5" name="Text Placeholder 4">
            <a:extLst>
              <a:ext uri="{FF2B5EF4-FFF2-40B4-BE49-F238E27FC236}">
                <a16:creationId xmlns:a16="http://schemas.microsoft.com/office/drawing/2014/main" id="{E9E26BEE-B6B3-D77D-697C-08A4EE588FC8}"/>
              </a:ext>
            </a:extLst>
          </p:cNvPr>
          <p:cNvSpPr>
            <a:spLocks noGrp="1"/>
          </p:cNvSpPr>
          <p:nvPr>
            <p:ph type="body" sz="quarter" idx="3"/>
          </p:nvPr>
        </p:nvSpPr>
        <p:spPr>
          <a:xfrm>
            <a:off x="6789011" y="2438399"/>
            <a:ext cx="4607189" cy="576262"/>
          </a:xfrm>
        </p:spPr>
        <p:txBody>
          <a:bodyPr/>
          <a:lstStyle/>
          <a:p>
            <a:pPr algn="ctr"/>
            <a:r>
              <a:rPr lang="en-IN" sz="3200" dirty="0"/>
              <a:t>Inbound</a:t>
            </a:r>
          </a:p>
        </p:txBody>
      </p:sp>
      <p:pic>
        <p:nvPicPr>
          <p:cNvPr id="10" name="Content Placeholder 9">
            <a:extLst>
              <a:ext uri="{FF2B5EF4-FFF2-40B4-BE49-F238E27FC236}">
                <a16:creationId xmlns:a16="http://schemas.microsoft.com/office/drawing/2014/main" id="{B19099D7-EC63-96A2-9F56-8D3DF32BCFD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rot="21273959">
            <a:off x="8680347" y="3734029"/>
            <a:ext cx="824514" cy="824514"/>
          </a:xfrm>
        </p:spPr>
      </p:pic>
      <p:graphicFrame>
        <p:nvGraphicFramePr>
          <p:cNvPr id="11" name="Table 10">
            <a:extLst>
              <a:ext uri="{FF2B5EF4-FFF2-40B4-BE49-F238E27FC236}">
                <a16:creationId xmlns:a16="http://schemas.microsoft.com/office/drawing/2014/main" id="{225B4055-1B8A-F875-75F3-50B21076840C}"/>
              </a:ext>
            </a:extLst>
          </p:cNvPr>
          <p:cNvGraphicFramePr>
            <a:graphicFrameLocks noGrp="1"/>
          </p:cNvGraphicFramePr>
          <p:nvPr>
            <p:extLst>
              <p:ext uri="{D42A27DB-BD31-4B8C-83A1-F6EECF244321}">
                <p14:modId xmlns:p14="http://schemas.microsoft.com/office/powerpoint/2010/main" val="1079425216"/>
              </p:ext>
            </p:extLst>
          </p:nvPr>
        </p:nvGraphicFramePr>
        <p:xfrm>
          <a:off x="7610168" y="3628103"/>
          <a:ext cx="3401962" cy="2861723"/>
        </p:xfrm>
        <a:graphic>
          <a:graphicData uri="http://schemas.openxmlformats.org/drawingml/2006/table">
            <a:tbl>
              <a:tblPr/>
              <a:tblGrid>
                <a:gridCol w="3401962">
                  <a:extLst>
                    <a:ext uri="{9D8B030D-6E8A-4147-A177-3AD203B41FA5}">
                      <a16:colId xmlns:a16="http://schemas.microsoft.com/office/drawing/2014/main" val="2948998717"/>
                    </a:ext>
                  </a:extLst>
                </a:gridCol>
              </a:tblGrid>
              <a:tr h="2861723">
                <a:tc>
                  <a:txBody>
                    <a:bodyPr/>
                    <a:lstStyle/>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endParaRPr lang="en-IN" dirty="0"/>
                    </a:p>
                    <a:p>
                      <a:pPr marL="0" indent="0">
                        <a:buFont typeface="Wingdings" panose="05000000000000000000" pitchFamily="2" charset="2"/>
                        <a:buNone/>
                      </a:pPr>
                      <a:endParaRPr lang="en-IN" dirty="0"/>
                    </a:p>
                    <a:p>
                      <a:pPr marL="285750" indent="-285750">
                        <a:buFont typeface="Wingdings" panose="05000000000000000000" pitchFamily="2" charset="2"/>
                        <a:buChar char="§"/>
                      </a:pPr>
                      <a:r>
                        <a:rPr lang="en-IN" dirty="0"/>
                        <a:t>SEO</a:t>
                      </a:r>
                    </a:p>
                    <a:p>
                      <a:pPr marL="285750" indent="-285750">
                        <a:buFont typeface="Wingdings" panose="05000000000000000000" pitchFamily="2" charset="2"/>
                        <a:buChar char="§"/>
                      </a:pPr>
                      <a:r>
                        <a:rPr lang="en-IN" dirty="0"/>
                        <a:t>Blogging </a:t>
                      </a:r>
                    </a:p>
                    <a:p>
                      <a:pPr marL="285750" indent="-285750">
                        <a:buFont typeface="Wingdings" panose="05000000000000000000" pitchFamily="2" charset="2"/>
                        <a:buChar char="§"/>
                      </a:pPr>
                      <a:r>
                        <a:rPr lang="en-IN" dirty="0"/>
                        <a:t>Attraction</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359735310"/>
                  </a:ext>
                </a:extLst>
              </a:tr>
            </a:tbl>
          </a:graphicData>
        </a:graphic>
      </p:graphicFrame>
      <p:graphicFrame>
        <p:nvGraphicFramePr>
          <p:cNvPr id="12" name="Table 11">
            <a:extLst>
              <a:ext uri="{FF2B5EF4-FFF2-40B4-BE49-F238E27FC236}">
                <a16:creationId xmlns:a16="http://schemas.microsoft.com/office/drawing/2014/main" id="{97AE7C63-065F-75CB-4CE3-2F8A1ADE9E38}"/>
              </a:ext>
            </a:extLst>
          </p:cNvPr>
          <p:cNvGraphicFramePr>
            <a:graphicFrameLocks noGrp="1"/>
          </p:cNvGraphicFramePr>
          <p:nvPr>
            <p:extLst>
              <p:ext uri="{D42A27DB-BD31-4B8C-83A1-F6EECF244321}">
                <p14:modId xmlns:p14="http://schemas.microsoft.com/office/powerpoint/2010/main" val="540734991"/>
              </p:ext>
            </p:extLst>
          </p:nvPr>
        </p:nvGraphicFramePr>
        <p:xfrm>
          <a:off x="2413819" y="3628103"/>
          <a:ext cx="3401962" cy="2758932"/>
        </p:xfrm>
        <a:graphic>
          <a:graphicData uri="http://schemas.openxmlformats.org/drawingml/2006/table">
            <a:tbl>
              <a:tblPr/>
              <a:tblGrid>
                <a:gridCol w="3401962">
                  <a:extLst>
                    <a:ext uri="{9D8B030D-6E8A-4147-A177-3AD203B41FA5}">
                      <a16:colId xmlns:a16="http://schemas.microsoft.com/office/drawing/2014/main" val="2948998717"/>
                    </a:ext>
                  </a:extLst>
                </a:gridCol>
              </a:tblGrid>
              <a:tr h="2758932">
                <a:tc>
                  <a:txBody>
                    <a:bodyPr/>
                    <a:lstStyle/>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endParaRPr lang="en-IN" dirty="0"/>
                    </a:p>
                    <a:p>
                      <a:pPr marL="0" indent="0">
                        <a:buFont typeface="Wingdings" panose="05000000000000000000" pitchFamily="2" charset="2"/>
                        <a:buNone/>
                      </a:pPr>
                      <a:endParaRPr lang="en-IN" dirty="0"/>
                    </a:p>
                    <a:p>
                      <a:pPr marL="285750" indent="-285750">
                        <a:buFont typeface="Wingdings" panose="05000000000000000000" pitchFamily="2" charset="2"/>
                        <a:buChar char="§"/>
                      </a:pPr>
                      <a:r>
                        <a:rPr lang="en-IN" dirty="0"/>
                        <a:t>Cold Calling</a:t>
                      </a:r>
                    </a:p>
                    <a:p>
                      <a:pPr marL="285750" indent="-285750">
                        <a:buFont typeface="Wingdings" panose="05000000000000000000" pitchFamily="2" charset="2"/>
                        <a:buChar char="§"/>
                      </a:pPr>
                      <a:r>
                        <a:rPr lang="en-IN" dirty="0"/>
                        <a:t>E-Mails (SPAM)</a:t>
                      </a:r>
                    </a:p>
                    <a:p>
                      <a:pPr marL="285750" indent="-285750">
                        <a:buFont typeface="Wingdings" panose="05000000000000000000" pitchFamily="2" charset="2"/>
                        <a:buChar char="§"/>
                      </a:pPr>
                      <a:r>
                        <a:rPr lang="en-IN" dirty="0"/>
                        <a:t>Interruptive Ads</a:t>
                      </a:r>
                    </a:p>
                    <a:p>
                      <a:pPr marL="285750" indent="-285750">
                        <a:buFont typeface="Wingdings" panose="05000000000000000000" pitchFamily="2" charset="2"/>
                        <a:buChar char="§"/>
                      </a:pPr>
                      <a:r>
                        <a:rPr lang="en-IN" dirty="0"/>
                        <a:t>Door-to-door visit</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359735310"/>
                  </a:ext>
                </a:extLst>
              </a:tr>
            </a:tbl>
          </a:graphicData>
        </a:graphic>
      </p:graphicFrame>
    </p:spTree>
    <p:extLst>
      <p:ext uri="{BB962C8B-B14F-4D97-AF65-F5344CB8AC3E}">
        <p14:creationId xmlns:p14="http://schemas.microsoft.com/office/powerpoint/2010/main" val="20157969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400F2-2C41-CEE2-4A9D-C1253B64BB0D}"/>
              </a:ext>
            </a:extLst>
          </p:cNvPr>
          <p:cNvSpPr>
            <a:spLocks noGrp="1"/>
          </p:cNvSpPr>
          <p:nvPr>
            <p:ph type="title"/>
          </p:nvPr>
        </p:nvSpPr>
        <p:spPr>
          <a:xfrm>
            <a:off x="2615021" y="361336"/>
            <a:ext cx="8406941" cy="1172497"/>
          </a:xfrm>
        </p:spPr>
        <p:txBody>
          <a:bodyPr>
            <a:normAutofit/>
          </a:bodyPr>
          <a:lstStyle/>
          <a:p>
            <a:r>
              <a:rPr lang="en-US" sz="5500" dirty="0"/>
              <a:t>Inbound Methodology</a:t>
            </a:r>
            <a:endParaRPr lang="en-IN" sz="5500" dirty="0"/>
          </a:p>
        </p:txBody>
      </p:sp>
      <p:sp>
        <p:nvSpPr>
          <p:cNvPr id="4" name="Oval 3">
            <a:extLst>
              <a:ext uri="{FF2B5EF4-FFF2-40B4-BE49-F238E27FC236}">
                <a16:creationId xmlns:a16="http://schemas.microsoft.com/office/drawing/2014/main" id="{63D3513C-A24E-D5CF-5DD0-1138558214DE}"/>
              </a:ext>
            </a:extLst>
          </p:cNvPr>
          <p:cNvSpPr/>
          <p:nvPr/>
        </p:nvSpPr>
        <p:spPr>
          <a:xfrm>
            <a:off x="1297858" y="2162479"/>
            <a:ext cx="3578402" cy="347171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Attract</a:t>
            </a:r>
          </a:p>
          <a:p>
            <a:pPr algn="ctr"/>
            <a:r>
              <a:rPr lang="en-US" b="1" dirty="0"/>
              <a:t>Contains relevant  content and conversations to </a:t>
            </a:r>
            <a:r>
              <a:rPr lang="en-US" b="1" dirty="0" err="1"/>
              <a:t>attrack</a:t>
            </a:r>
            <a:r>
              <a:rPr lang="en-US" b="1" dirty="0"/>
              <a:t> user to your website</a:t>
            </a:r>
          </a:p>
          <a:p>
            <a:pPr algn="ctr"/>
            <a:endParaRPr lang="en-IN" b="1" dirty="0"/>
          </a:p>
        </p:txBody>
      </p:sp>
      <p:sp>
        <p:nvSpPr>
          <p:cNvPr id="5" name="Oval 4">
            <a:extLst>
              <a:ext uri="{FF2B5EF4-FFF2-40B4-BE49-F238E27FC236}">
                <a16:creationId xmlns:a16="http://schemas.microsoft.com/office/drawing/2014/main" id="{4EDEA609-3D75-6A17-7173-9305755DB923}"/>
              </a:ext>
            </a:extLst>
          </p:cNvPr>
          <p:cNvSpPr/>
          <p:nvPr/>
        </p:nvSpPr>
        <p:spPr>
          <a:xfrm>
            <a:off x="5070716" y="2230997"/>
            <a:ext cx="3503014" cy="3403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Engage</a:t>
            </a:r>
          </a:p>
          <a:p>
            <a:pPr algn="ctr"/>
            <a:r>
              <a:rPr lang="en-US" dirty="0"/>
              <a:t>Presenting ideas and insights that align with users  problems and goals as well as that gathering of information in order to establish  a deeper bond/connection</a:t>
            </a:r>
            <a:endParaRPr lang="en-IN" dirty="0"/>
          </a:p>
        </p:txBody>
      </p:sp>
      <p:sp>
        <p:nvSpPr>
          <p:cNvPr id="8" name="Content Placeholder 7">
            <a:extLst>
              <a:ext uri="{FF2B5EF4-FFF2-40B4-BE49-F238E27FC236}">
                <a16:creationId xmlns:a16="http://schemas.microsoft.com/office/drawing/2014/main" id="{38028A47-50D1-487E-7FB5-459992F406A5}"/>
              </a:ext>
            </a:extLst>
          </p:cNvPr>
          <p:cNvSpPr>
            <a:spLocks noGrp="1"/>
          </p:cNvSpPr>
          <p:nvPr>
            <p:ph idx="1"/>
          </p:nvPr>
        </p:nvSpPr>
        <p:spPr>
          <a:xfrm>
            <a:off x="8809702" y="2162479"/>
            <a:ext cx="3244645" cy="34031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20000"/>
          </a:bodyPr>
          <a:lstStyle/>
          <a:p>
            <a:pPr marL="0" indent="0" algn="ctr">
              <a:buNone/>
            </a:pPr>
            <a:r>
              <a:rPr lang="en-US" b="1" dirty="0">
                <a:solidFill>
                  <a:schemeClr val="tx1"/>
                </a:solidFill>
              </a:rPr>
              <a:t>Delight</a:t>
            </a:r>
          </a:p>
          <a:p>
            <a:pPr marL="0" indent="0" algn="ctr">
              <a:buNone/>
            </a:pPr>
            <a:r>
              <a:rPr lang="en-US" dirty="0"/>
              <a:t>Proving help and support to empower customers to find their purchase  and </a:t>
            </a:r>
            <a:r>
              <a:rPr lang="en-US" dirty="0" err="1"/>
              <a:t>asure</a:t>
            </a:r>
            <a:r>
              <a:rPr lang="en-US" dirty="0"/>
              <a:t> their long-term commitment </a:t>
            </a:r>
            <a:endParaRPr lang="en-IN" dirty="0"/>
          </a:p>
        </p:txBody>
      </p:sp>
    </p:spTree>
    <p:extLst>
      <p:ext uri="{BB962C8B-B14F-4D97-AF65-F5344CB8AC3E}">
        <p14:creationId xmlns:p14="http://schemas.microsoft.com/office/powerpoint/2010/main" val="157053541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EDB81-1E21-47D1-FB8A-77421FBAF3D2}"/>
              </a:ext>
            </a:extLst>
          </p:cNvPr>
          <p:cNvSpPr>
            <a:spLocks noGrp="1"/>
          </p:cNvSpPr>
          <p:nvPr>
            <p:ph type="title"/>
          </p:nvPr>
        </p:nvSpPr>
        <p:spPr>
          <a:xfrm>
            <a:off x="1287667" y="243349"/>
            <a:ext cx="10904333" cy="1401092"/>
          </a:xfrm>
        </p:spPr>
        <p:txBody>
          <a:bodyPr>
            <a:noAutofit/>
          </a:bodyPr>
          <a:lstStyle/>
          <a:p>
            <a:r>
              <a:rPr lang="en-US" sz="5000" dirty="0"/>
              <a:t>Characteristics of Inbound Marketing </a:t>
            </a:r>
            <a:endParaRPr lang="en-IN" sz="5000" dirty="0"/>
          </a:p>
        </p:txBody>
      </p:sp>
      <p:sp>
        <p:nvSpPr>
          <p:cNvPr id="3" name="Content Placeholder 2">
            <a:extLst>
              <a:ext uri="{FF2B5EF4-FFF2-40B4-BE49-F238E27FC236}">
                <a16:creationId xmlns:a16="http://schemas.microsoft.com/office/drawing/2014/main" id="{7AE98D9A-394B-8C64-5072-D923FC178705}"/>
              </a:ext>
            </a:extLst>
          </p:cNvPr>
          <p:cNvSpPr>
            <a:spLocks noGrp="1"/>
          </p:cNvSpPr>
          <p:nvPr>
            <p:ph sz="half" idx="1"/>
          </p:nvPr>
        </p:nvSpPr>
        <p:spPr>
          <a:xfrm>
            <a:off x="1484312" y="2244212"/>
            <a:ext cx="9557314" cy="3124201"/>
          </a:xfrm>
        </p:spPr>
        <p:txBody>
          <a:bodyPr/>
          <a:lstStyle/>
          <a:p>
            <a:pPr marL="0" indent="0">
              <a:buNone/>
            </a:pPr>
            <a:endParaRPr lang="en-US" dirty="0"/>
          </a:p>
          <a:p>
            <a:pPr marL="0" indent="0">
              <a:buNone/>
            </a:pPr>
            <a:endParaRPr lang="en-IN" b="1" dirty="0"/>
          </a:p>
        </p:txBody>
      </p:sp>
      <p:sp>
        <p:nvSpPr>
          <p:cNvPr id="5" name="Rectangle: Rounded Corners 4">
            <a:extLst>
              <a:ext uri="{FF2B5EF4-FFF2-40B4-BE49-F238E27FC236}">
                <a16:creationId xmlns:a16="http://schemas.microsoft.com/office/drawing/2014/main" id="{2F994612-3E5A-7F79-CE69-C8729C900676}"/>
              </a:ext>
            </a:extLst>
          </p:cNvPr>
          <p:cNvSpPr/>
          <p:nvPr/>
        </p:nvSpPr>
        <p:spPr>
          <a:xfrm>
            <a:off x="2408366" y="2252814"/>
            <a:ext cx="1976284" cy="10127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a:p>
            <a:pPr algn="ctr"/>
            <a:r>
              <a:rPr lang="en-IN" b="1" dirty="0">
                <a:solidFill>
                  <a:schemeClr val="tx1"/>
                </a:solidFill>
              </a:rPr>
              <a:t>Attracts, Not Distracts</a:t>
            </a:r>
          </a:p>
          <a:p>
            <a:pPr algn="ctr"/>
            <a:endParaRPr lang="en-IN" dirty="0"/>
          </a:p>
        </p:txBody>
      </p:sp>
      <p:sp>
        <p:nvSpPr>
          <p:cNvPr id="6" name="Rectangle: Rounded Corners 5">
            <a:extLst>
              <a:ext uri="{FF2B5EF4-FFF2-40B4-BE49-F238E27FC236}">
                <a16:creationId xmlns:a16="http://schemas.microsoft.com/office/drawing/2014/main" id="{7128FAEF-0F02-A5BB-458E-B37E1503FA68}"/>
              </a:ext>
            </a:extLst>
          </p:cNvPr>
          <p:cNvSpPr/>
          <p:nvPr/>
        </p:nvSpPr>
        <p:spPr>
          <a:xfrm>
            <a:off x="5505526" y="2252814"/>
            <a:ext cx="1976284" cy="10127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a:p>
            <a:pPr algn="ctr"/>
            <a:endParaRPr lang="en-IN" b="1" dirty="0"/>
          </a:p>
          <a:p>
            <a:pPr algn="ctr"/>
            <a:r>
              <a:rPr lang="en-IN" b="1" dirty="0">
                <a:solidFill>
                  <a:schemeClr val="tx1"/>
                </a:solidFill>
              </a:rPr>
              <a:t>Content-Driven</a:t>
            </a:r>
          </a:p>
          <a:p>
            <a:pPr algn="ctr"/>
            <a:endParaRPr lang="en-IN" b="1" dirty="0"/>
          </a:p>
          <a:p>
            <a:pPr algn="ctr"/>
            <a:endParaRPr lang="en-IN" dirty="0"/>
          </a:p>
        </p:txBody>
      </p:sp>
      <p:sp>
        <p:nvSpPr>
          <p:cNvPr id="7" name="Rectangle: Rounded Corners 6">
            <a:extLst>
              <a:ext uri="{FF2B5EF4-FFF2-40B4-BE49-F238E27FC236}">
                <a16:creationId xmlns:a16="http://schemas.microsoft.com/office/drawing/2014/main" id="{DA694C06-A9F4-475C-AAC2-5619AE407DC0}"/>
              </a:ext>
            </a:extLst>
          </p:cNvPr>
          <p:cNvSpPr/>
          <p:nvPr/>
        </p:nvSpPr>
        <p:spPr>
          <a:xfrm>
            <a:off x="2408366" y="4188543"/>
            <a:ext cx="1976284" cy="10127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a:p>
            <a:pPr algn="ctr"/>
            <a:r>
              <a:rPr lang="en-IN" b="1" dirty="0">
                <a:solidFill>
                  <a:schemeClr val="tx1"/>
                </a:solidFill>
              </a:rPr>
              <a:t>Builds Trust</a:t>
            </a:r>
          </a:p>
          <a:p>
            <a:pPr algn="ctr"/>
            <a:endParaRPr lang="en-IN" b="1" dirty="0"/>
          </a:p>
          <a:p>
            <a:pPr algn="ctr"/>
            <a:endParaRPr lang="en-IN" dirty="0"/>
          </a:p>
        </p:txBody>
      </p:sp>
      <p:sp>
        <p:nvSpPr>
          <p:cNvPr id="8" name="Rectangle: Rounded Corners 7">
            <a:extLst>
              <a:ext uri="{FF2B5EF4-FFF2-40B4-BE49-F238E27FC236}">
                <a16:creationId xmlns:a16="http://schemas.microsoft.com/office/drawing/2014/main" id="{8728842F-3113-B7C0-F492-E5A869A5AECA}"/>
              </a:ext>
            </a:extLst>
          </p:cNvPr>
          <p:cNvSpPr/>
          <p:nvPr/>
        </p:nvSpPr>
        <p:spPr>
          <a:xfrm>
            <a:off x="8795492" y="2252814"/>
            <a:ext cx="1976284" cy="10127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a:p>
            <a:pPr algn="ctr"/>
            <a:endParaRPr lang="en-IN" b="1" dirty="0"/>
          </a:p>
          <a:p>
            <a:pPr algn="ctr"/>
            <a:r>
              <a:rPr lang="en-IN" b="1" dirty="0">
                <a:solidFill>
                  <a:schemeClr val="tx1"/>
                </a:solidFill>
              </a:rPr>
              <a:t>Engages and Educates</a:t>
            </a:r>
          </a:p>
          <a:p>
            <a:pPr algn="ctr"/>
            <a:endParaRPr lang="en-IN" b="1" dirty="0"/>
          </a:p>
          <a:p>
            <a:pPr algn="ctr"/>
            <a:endParaRPr lang="en-IN" dirty="0"/>
          </a:p>
        </p:txBody>
      </p:sp>
      <p:sp>
        <p:nvSpPr>
          <p:cNvPr id="9" name="Rectangle: Rounded Corners 8">
            <a:extLst>
              <a:ext uri="{FF2B5EF4-FFF2-40B4-BE49-F238E27FC236}">
                <a16:creationId xmlns:a16="http://schemas.microsoft.com/office/drawing/2014/main" id="{DD805A54-893C-F215-55BA-2DFDBD0AF944}"/>
              </a:ext>
            </a:extLst>
          </p:cNvPr>
          <p:cNvSpPr/>
          <p:nvPr/>
        </p:nvSpPr>
        <p:spPr>
          <a:xfrm>
            <a:off x="5505526" y="4188543"/>
            <a:ext cx="1976284" cy="10127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a:p>
            <a:pPr algn="ctr"/>
            <a:endParaRPr lang="en-IN" b="1" dirty="0"/>
          </a:p>
          <a:p>
            <a:pPr algn="ctr"/>
            <a:r>
              <a:rPr lang="en-IN" b="1" dirty="0">
                <a:solidFill>
                  <a:schemeClr val="tx1"/>
                </a:solidFill>
              </a:rPr>
              <a:t>Long-Term Relationship</a:t>
            </a:r>
          </a:p>
          <a:p>
            <a:pPr algn="ctr"/>
            <a:endParaRPr lang="en-IN" b="1" dirty="0"/>
          </a:p>
          <a:p>
            <a:pPr algn="ctr"/>
            <a:endParaRPr lang="en-IN" dirty="0"/>
          </a:p>
        </p:txBody>
      </p:sp>
      <p:sp>
        <p:nvSpPr>
          <p:cNvPr id="10" name="Rectangle: Rounded Corners 9">
            <a:extLst>
              <a:ext uri="{FF2B5EF4-FFF2-40B4-BE49-F238E27FC236}">
                <a16:creationId xmlns:a16="http://schemas.microsoft.com/office/drawing/2014/main" id="{1A42D1DE-E8A5-22B3-4512-3426B82A73C4}"/>
              </a:ext>
            </a:extLst>
          </p:cNvPr>
          <p:cNvSpPr/>
          <p:nvPr/>
        </p:nvSpPr>
        <p:spPr>
          <a:xfrm>
            <a:off x="8795492" y="4200838"/>
            <a:ext cx="1976284" cy="10127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a:p>
            <a:pPr algn="ctr"/>
            <a:endParaRPr lang="en-IN" b="1" dirty="0"/>
          </a:p>
          <a:p>
            <a:pPr algn="ctr"/>
            <a:r>
              <a:rPr lang="en-IN" b="1" dirty="0">
                <a:solidFill>
                  <a:schemeClr val="tx1"/>
                </a:solidFill>
              </a:rPr>
              <a:t>Data Driven</a:t>
            </a:r>
          </a:p>
          <a:p>
            <a:pPr algn="ctr"/>
            <a:endParaRPr lang="en-IN" b="1" dirty="0"/>
          </a:p>
          <a:p>
            <a:pPr algn="ctr"/>
            <a:endParaRPr lang="en-IN" dirty="0"/>
          </a:p>
        </p:txBody>
      </p:sp>
    </p:spTree>
    <p:extLst>
      <p:ext uri="{BB962C8B-B14F-4D97-AF65-F5344CB8AC3E}">
        <p14:creationId xmlns:p14="http://schemas.microsoft.com/office/powerpoint/2010/main" val="2765010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DCD6-291C-376B-B648-5F5D4DC71296}"/>
              </a:ext>
            </a:extLst>
          </p:cNvPr>
          <p:cNvSpPr>
            <a:spLocks noGrp="1"/>
          </p:cNvSpPr>
          <p:nvPr>
            <p:ph type="title"/>
          </p:nvPr>
        </p:nvSpPr>
        <p:spPr>
          <a:xfrm>
            <a:off x="2585704" y="216309"/>
            <a:ext cx="8603406" cy="1455175"/>
          </a:xfrm>
        </p:spPr>
        <p:txBody>
          <a:bodyPr>
            <a:noAutofit/>
          </a:bodyPr>
          <a:lstStyle/>
          <a:p>
            <a:r>
              <a:rPr lang="en-IN" sz="5500" dirty="0"/>
              <a:t>Ways of Inbound Marketing</a:t>
            </a:r>
          </a:p>
        </p:txBody>
      </p:sp>
      <p:sp>
        <p:nvSpPr>
          <p:cNvPr id="4" name="Content Placeholder 3">
            <a:extLst>
              <a:ext uri="{FF2B5EF4-FFF2-40B4-BE49-F238E27FC236}">
                <a16:creationId xmlns:a16="http://schemas.microsoft.com/office/drawing/2014/main" id="{EC7DF429-060C-3C15-86E6-6561F84C48FB}"/>
              </a:ext>
            </a:extLst>
          </p:cNvPr>
          <p:cNvSpPr>
            <a:spLocks noGrp="1"/>
          </p:cNvSpPr>
          <p:nvPr>
            <p:ph sz="half" idx="1"/>
          </p:nvPr>
        </p:nvSpPr>
        <p:spPr>
          <a:xfrm>
            <a:off x="1435509" y="1866899"/>
            <a:ext cx="10274709" cy="4101282"/>
          </a:xfrm>
        </p:spPr>
        <p:txBody>
          <a:bodyPr>
            <a:noAutofit/>
          </a:bodyPr>
          <a:lstStyle/>
          <a:p>
            <a:r>
              <a:rPr lang="en-US" sz="2600" b="1" dirty="0"/>
              <a:t>SEO (Search Engine Optimization) :-  </a:t>
            </a:r>
            <a:r>
              <a:rPr lang="en-US" sz="2600" dirty="0"/>
              <a:t>Focuses on improving your website’s visibility on search engines through keyword optimization, and enhancing site speed and mobile-friendliness.</a:t>
            </a:r>
          </a:p>
          <a:p>
            <a:pPr marL="0" indent="0">
              <a:buNone/>
            </a:pPr>
            <a:endParaRPr lang="en-US" sz="2600" dirty="0"/>
          </a:p>
          <a:p>
            <a:r>
              <a:rPr lang="en-IN" sz="2600" b="1" dirty="0"/>
              <a:t>Social Media</a:t>
            </a:r>
            <a:r>
              <a:rPr lang="en-US" sz="2600" b="1" dirty="0"/>
              <a:t> :- </a:t>
            </a:r>
            <a:r>
              <a:rPr lang="en-US" sz="2600" dirty="0"/>
              <a:t>Uses platforms like Facebook, Twitter, LinkedIn, and Instagram to share content, engage with followers, and build a community around your brand.</a:t>
            </a:r>
          </a:p>
        </p:txBody>
      </p:sp>
    </p:spTree>
    <p:extLst>
      <p:ext uri="{BB962C8B-B14F-4D97-AF65-F5344CB8AC3E}">
        <p14:creationId xmlns:p14="http://schemas.microsoft.com/office/powerpoint/2010/main" val="6221498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C7DF429-060C-3C15-86E6-6561F84C48FB}"/>
              </a:ext>
            </a:extLst>
          </p:cNvPr>
          <p:cNvSpPr>
            <a:spLocks noGrp="1"/>
          </p:cNvSpPr>
          <p:nvPr>
            <p:ph sz="half" idx="1"/>
          </p:nvPr>
        </p:nvSpPr>
        <p:spPr>
          <a:xfrm>
            <a:off x="1435509" y="1866899"/>
            <a:ext cx="9851923" cy="4101282"/>
          </a:xfrm>
        </p:spPr>
        <p:txBody>
          <a:bodyPr>
            <a:noAutofit/>
          </a:bodyPr>
          <a:lstStyle/>
          <a:p>
            <a:r>
              <a:rPr lang="en-IN" sz="2600" b="1" dirty="0"/>
              <a:t>Podcasting</a:t>
            </a:r>
            <a:r>
              <a:rPr lang="en-US" sz="2600" b="1" dirty="0"/>
              <a:t> :-</a:t>
            </a:r>
            <a:r>
              <a:rPr lang="en-US" sz="2600" dirty="0"/>
              <a:t> Involves hosting or appearing on podcasts to provide valuable content to attracting and engaging listeners.</a:t>
            </a:r>
          </a:p>
          <a:p>
            <a:pPr marL="0" indent="0">
              <a:buNone/>
            </a:pPr>
            <a:endParaRPr lang="en-US" sz="2600" dirty="0"/>
          </a:p>
          <a:p>
            <a:r>
              <a:rPr lang="en-IN" sz="2600" b="1" dirty="0"/>
              <a:t>Content Marketing</a:t>
            </a:r>
            <a:r>
              <a:rPr lang="en-US" sz="2600" b="1" dirty="0"/>
              <a:t> :-  </a:t>
            </a:r>
            <a:r>
              <a:rPr lang="en-US" sz="2600" dirty="0"/>
              <a:t>Involves creating and distributing valuable content like blogs, e-books, whitepapers, and case studies to attract and engage your target audience.</a:t>
            </a:r>
            <a:endParaRPr lang="en-IN" sz="2600" dirty="0"/>
          </a:p>
        </p:txBody>
      </p:sp>
      <p:sp>
        <p:nvSpPr>
          <p:cNvPr id="6" name="Title 1">
            <a:extLst>
              <a:ext uri="{FF2B5EF4-FFF2-40B4-BE49-F238E27FC236}">
                <a16:creationId xmlns:a16="http://schemas.microsoft.com/office/drawing/2014/main" id="{09BBFFD7-BDFB-A992-7685-2693958C479E}"/>
              </a:ext>
            </a:extLst>
          </p:cNvPr>
          <p:cNvSpPr>
            <a:spLocks noGrp="1"/>
          </p:cNvSpPr>
          <p:nvPr>
            <p:ph type="title"/>
          </p:nvPr>
        </p:nvSpPr>
        <p:spPr>
          <a:xfrm>
            <a:off x="2585704" y="216309"/>
            <a:ext cx="8603406" cy="1455175"/>
          </a:xfrm>
        </p:spPr>
        <p:txBody>
          <a:bodyPr>
            <a:noAutofit/>
          </a:bodyPr>
          <a:lstStyle/>
          <a:p>
            <a:r>
              <a:rPr lang="en-IN" sz="5500" dirty="0"/>
              <a:t>Ways of Inbound Marketing</a:t>
            </a:r>
          </a:p>
        </p:txBody>
      </p:sp>
    </p:spTree>
    <p:extLst>
      <p:ext uri="{BB962C8B-B14F-4D97-AF65-F5344CB8AC3E}">
        <p14:creationId xmlns:p14="http://schemas.microsoft.com/office/powerpoint/2010/main" val="418587262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CA5A00E-E611-BA9B-4BF8-0DA02101C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285901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600B-1EF6-72C1-A4F3-6C2A2F694BA3}"/>
              </a:ext>
            </a:extLst>
          </p:cNvPr>
          <p:cNvSpPr>
            <a:spLocks noGrp="1"/>
          </p:cNvSpPr>
          <p:nvPr>
            <p:ph type="title"/>
          </p:nvPr>
        </p:nvSpPr>
        <p:spPr>
          <a:xfrm>
            <a:off x="1454814" y="872613"/>
            <a:ext cx="10018713" cy="1752599"/>
          </a:xfrm>
        </p:spPr>
        <p:txBody>
          <a:bodyPr/>
          <a:lstStyle/>
          <a:p>
            <a:r>
              <a:rPr lang="en-US" b="1" dirty="0"/>
              <a:t>Cooperation </a:t>
            </a:r>
            <a:r>
              <a:rPr lang="en-US" sz="3600" b="1" dirty="0"/>
              <a:t>vs</a:t>
            </a:r>
            <a:r>
              <a:rPr lang="en-US" b="1" dirty="0"/>
              <a:t> Collaboration </a:t>
            </a:r>
            <a:endParaRPr lang="en-IN" b="1" dirty="0"/>
          </a:p>
        </p:txBody>
      </p:sp>
      <p:sp>
        <p:nvSpPr>
          <p:cNvPr id="3" name="Content Placeholder 2">
            <a:extLst>
              <a:ext uri="{FF2B5EF4-FFF2-40B4-BE49-F238E27FC236}">
                <a16:creationId xmlns:a16="http://schemas.microsoft.com/office/drawing/2014/main" id="{A81A59AD-60A5-5107-6069-8EC7C42F33BE}"/>
              </a:ext>
            </a:extLst>
          </p:cNvPr>
          <p:cNvSpPr>
            <a:spLocks noGrp="1"/>
          </p:cNvSpPr>
          <p:nvPr>
            <p:ph idx="1"/>
          </p:nvPr>
        </p:nvSpPr>
        <p:spPr>
          <a:xfrm>
            <a:off x="1602297" y="2519516"/>
            <a:ext cx="10018713" cy="3124201"/>
          </a:xfrm>
        </p:spPr>
        <p:txBody>
          <a:bodyPr/>
          <a:lstStyle/>
          <a:p>
            <a:pPr>
              <a:buFont typeface="Arial" panose="020B0604020202020204" pitchFamily="34" charset="0"/>
              <a:buChar char="•"/>
            </a:pPr>
            <a:r>
              <a:rPr lang="en-US" b="1" dirty="0"/>
              <a:t>Cooperation : </a:t>
            </a:r>
            <a:r>
              <a:rPr lang="en-US" dirty="0"/>
              <a:t>It is the concept of working with others to achieve  your own goal.</a:t>
            </a:r>
          </a:p>
          <a:p>
            <a:pPr>
              <a:buFont typeface="Arial" panose="020B0604020202020204" pitchFamily="34" charset="0"/>
              <a:buChar char="•"/>
            </a:pPr>
            <a:endParaRPr lang="en-US" dirty="0"/>
          </a:p>
          <a:p>
            <a:pPr>
              <a:buFont typeface="Arial" panose="020B0604020202020204" pitchFamily="34" charset="0"/>
              <a:buChar char="•"/>
            </a:pPr>
            <a:r>
              <a:rPr lang="en-US" b="1" dirty="0"/>
              <a:t>Collaboration:</a:t>
            </a:r>
            <a:r>
              <a:rPr lang="en-US" dirty="0"/>
              <a:t> Working with others to produce something together and achieve shared goals.</a:t>
            </a:r>
            <a:endParaRPr lang="en-IN" dirty="0"/>
          </a:p>
        </p:txBody>
      </p:sp>
    </p:spTree>
    <p:extLst>
      <p:ext uri="{BB962C8B-B14F-4D97-AF65-F5344CB8AC3E}">
        <p14:creationId xmlns:p14="http://schemas.microsoft.com/office/powerpoint/2010/main" val="3160204831"/>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600B-1EF6-72C1-A4F3-6C2A2F694BA3}"/>
              </a:ext>
            </a:extLst>
          </p:cNvPr>
          <p:cNvSpPr>
            <a:spLocks noGrp="1"/>
          </p:cNvSpPr>
          <p:nvPr>
            <p:ph type="title"/>
          </p:nvPr>
        </p:nvSpPr>
        <p:spPr>
          <a:xfrm>
            <a:off x="1975924" y="351505"/>
            <a:ext cx="9301676" cy="1359310"/>
          </a:xfrm>
        </p:spPr>
        <p:txBody>
          <a:bodyPr/>
          <a:lstStyle/>
          <a:p>
            <a:r>
              <a:rPr lang="en-US" b="1" dirty="0"/>
              <a:t>Advantages of Inbound marketing</a:t>
            </a:r>
            <a:endParaRPr lang="en-IN" b="1" dirty="0"/>
          </a:p>
        </p:txBody>
      </p:sp>
      <p:sp>
        <p:nvSpPr>
          <p:cNvPr id="3" name="Content Placeholder 2">
            <a:extLst>
              <a:ext uri="{FF2B5EF4-FFF2-40B4-BE49-F238E27FC236}">
                <a16:creationId xmlns:a16="http://schemas.microsoft.com/office/drawing/2014/main" id="{A81A59AD-60A5-5107-6069-8EC7C42F33BE}"/>
              </a:ext>
            </a:extLst>
          </p:cNvPr>
          <p:cNvSpPr>
            <a:spLocks noGrp="1"/>
          </p:cNvSpPr>
          <p:nvPr>
            <p:ph idx="1"/>
          </p:nvPr>
        </p:nvSpPr>
        <p:spPr>
          <a:xfrm>
            <a:off x="1573162" y="2074607"/>
            <a:ext cx="10196052" cy="4159045"/>
          </a:xfrm>
        </p:spPr>
        <p:txBody>
          <a:bodyPr>
            <a:normAutofit/>
          </a:bodyPr>
          <a:lstStyle/>
          <a:p>
            <a:pPr>
              <a:buFont typeface="Arial" panose="020B0604020202020204" pitchFamily="34" charset="0"/>
              <a:buChar char="•"/>
            </a:pPr>
            <a:r>
              <a:rPr lang="en-IN" b="1" dirty="0"/>
              <a:t>Cost-Effective :- </a:t>
            </a:r>
            <a:r>
              <a:rPr lang="en-US" dirty="0"/>
              <a:t>Inbound marketing is generally more cost-effective than traditional outbound marketing. Creating content, optimizing for search engines, and engaging on social media often require less investment than paid advertising.</a:t>
            </a:r>
          </a:p>
          <a:p>
            <a:pPr marL="0" indent="0">
              <a:buNone/>
            </a:pPr>
            <a:endParaRPr lang="en-US" dirty="0"/>
          </a:p>
          <a:p>
            <a:pPr>
              <a:buFont typeface="Arial" panose="020B0604020202020204" pitchFamily="34" charset="0"/>
              <a:buChar char="•"/>
            </a:pPr>
            <a:r>
              <a:rPr lang="en-IN" b="1" dirty="0"/>
              <a:t>Enhances Brand Awareness</a:t>
            </a:r>
            <a:r>
              <a:rPr lang="en-US" b="1" dirty="0"/>
              <a:t> :- </a:t>
            </a:r>
            <a:r>
              <a:rPr lang="en-US" dirty="0"/>
              <a:t>Consistently producing and sharing valuable content across various channels increases your brand’s visibility and recognition. As more people discover your content, your brand becomes more familiar and trusted in the market.</a:t>
            </a:r>
            <a:endParaRPr lang="en-IN" dirty="0"/>
          </a:p>
        </p:txBody>
      </p:sp>
    </p:spTree>
    <p:extLst>
      <p:ext uri="{BB962C8B-B14F-4D97-AF65-F5344CB8AC3E}">
        <p14:creationId xmlns:p14="http://schemas.microsoft.com/office/powerpoint/2010/main" val="161166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26CCC-8F5B-AC83-2295-FAEECD6EFC6F}"/>
              </a:ext>
            </a:extLst>
          </p:cNvPr>
          <p:cNvSpPr>
            <a:spLocks noGrp="1"/>
          </p:cNvSpPr>
          <p:nvPr>
            <p:ph type="title"/>
          </p:nvPr>
        </p:nvSpPr>
        <p:spPr/>
        <p:txBody>
          <a:bodyPr/>
          <a:lstStyle/>
          <a:p>
            <a:r>
              <a:rPr lang="en-IN" dirty="0"/>
              <a:t>Inbound leads cost 61% less than outbound</a:t>
            </a:r>
          </a:p>
        </p:txBody>
      </p:sp>
      <p:pic>
        <p:nvPicPr>
          <p:cNvPr id="8" name="Picture 7">
            <a:extLst>
              <a:ext uri="{FF2B5EF4-FFF2-40B4-BE49-F238E27FC236}">
                <a16:creationId xmlns:a16="http://schemas.microsoft.com/office/drawing/2014/main" id="{08C524F6-167E-72CE-1720-B7538568FF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0683" y="3479501"/>
            <a:ext cx="1602660" cy="1602660"/>
          </a:xfrm>
          <a:prstGeom prst="rect">
            <a:avLst/>
          </a:prstGeom>
        </p:spPr>
      </p:pic>
      <p:pic>
        <p:nvPicPr>
          <p:cNvPr id="10" name="Picture 9">
            <a:extLst>
              <a:ext uri="{FF2B5EF4-FFF2-40B4-BE49-F238E27FC236}">
                <a16:creationId xmlns:a16="http://schemas.microsoft.com/office/drawing/2014/main" id="{D1676530-FC36-AAF2-53B0-11F70B37E2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0024" y="3491962"/>
            <a:ext cx="1718221" cy="1718221"/>
          </a:xfrm>
          <a:prstGeom prst="rect">
            <a:avLst/>
          </a:prstGeom>
        </p:spPr>
      </p:pic>
      <p:graphicFrame>
        <p:nvGraphicFramePr>
          <p:cNvPr id="13" name="Table 12">
            <a:extLst>
              <a:ext uri="{FF2B5EF4-FFF2-40B4-BE49-F238E27FC236}">
                <a16:creationId xmlns:a16="http://schemas.microsoft.com/office/drawing/2014/main" id="{8E641EAD-B311-D21E-9499-D96C61D9EA2D}"/>
              </a:ext>
            </a:extLst>
          </p:cNvPr>
          <p:cNvGraphicFramePr>
            <a:graphicFrameLocks noGrp="1"/>
          </p:cNvGraphicFramePr>
          <p:nvPr>
            <p:extLst>
              <p:ext uri="{D42A27DB-BD31-4B8C-83A1-F6EECF244321}">
                <p14:modId xmlns:p14="http://schemas.microsoft.com/office/powerpoint/2010/main" val="977681222"/>
              </p:ext>
            </p:extLst>
          </p:nvPr>
        </p:nvGraphicFramePr>
        <p:xfrm>
          <a:off x="2600630" y="2638910"/>
          <a:ext cx="2487562" cy="640080"/>
        </p:xfrm>
        <a:graphic>
          <a:graphicData uri="http://schemas.openxmlformats.org/drawingml/2006/table">
            <a:tbl>
              <a:tblPr/>
              <a:tblGrid>
                <a:gridCol w="2487562">
                  <a:extLst>
                    <a:ext uri="{9D8B030D-6E8A-4147-A177-3AD203B41FA5}">
                      <a16:colId xmlns:a16="http://schemas.microsoft.com/office/drawing/2014/main" val="2375748829"/>
                    </a:ext>
                  </a:extLst>
                </a:gridCol>
              </a:tblGrid>
              <a:tr h="511278">
                <a:tc>
                  <a:txBody>
                    <a:bodyPr/>
                    <a:lstStyle/>
                    <a:p>
                      <a:r>
                        <a:rPr lang="en-IN" b="1" dirty="0"/>
                        <a:t>OUTBOUND</a:t>
                      </a:r>
                      <a:r>
                        <a:rPr lang="en-IN" dirty="0"/>
                        <a:t> :</a:t>
                      </a:r>
                    </a:p>
                    <a:p>
                      <a:r>
                        <a:rPr lang="en-IN" dirty="0"/>
                        <a:t>AVG COST - $346</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503489054"/>
                  </a:ext>
                </a:extLst>
              </a:tr>
            </a:tbl>
          </a:graphicData>
        </a:graphic>
      </p:graphicFrame>
      <p:graphicFrame>
        <p:nvGraphicFramePr>
          <p:cNvPr id="14" name="Table 13">
            <a:extLst>
              <a:ext uri="{FF2B5EF4-FFF2-40B4-BE49-F238E27FC236}">
                <a16:creationId xmlns:a16="http://schemas.microsoft.com/office/drawing/2014/main" id="{6CA909D4-2D4D-E957-763C-006BCF727756}"/>
              </a:ext>
            </a:extLst>
          </p:cNvPr>
          <p:cNvGraphicFramePr>
            <a:graphicFrameLocks noGrp="1"/>
          </p:cNvGraphicFramePr>
          <p:nvPr>
            <p:extLst>
              <p:ext uri="{D42A27DB-BD31-4B8C-83A1-F6EECF244321}">
                <p14:modId xmlns:p14="http://schemas.microsoft.com/office/powerpoint/2010/main" val="1620094574"/>
              </p:ext>
            </p:extLst>
          </p:nvPr>
        </p:nvGraphicFramePr>
        <p:xfrm>
          <a:off x="6995651" y="2638910"/>
          <a:ext cx="2487562" cy="727129"/>
        </p:xfrm>
        <a:graphic>
          <a:graphicData uri="http://schemas.openxmlformats.org/drawingml/2006/table">
            <a:tbl>
              <a:tblPr/>
              <a:tblGrid>
                <a:gridCol w="2487562">
                  <a:extLst>
                    <a:ext uri="{9D8B030D-6E8A-4147-A177-3AD203B41FA5}">
                      <a16:colId xmlns:a16="http://schemas.microsoft.com/office/drawing/2014/main" val="2375748829"/>
                    </a:ext>
                  </a:extLst>
                </a:gridCol>
              </a:tblGrid>
              <a:tr h="727129">
                <a:tc>
                  <a:txBody>
                    <a:bodyPr/>
                    <a:lstStyle/>
                    <a:p>
                      <a:r>
                        <a:rPr lang="en-IN" b="1" dirty="0"/>
                        <a:t>INBOUND</a:t>
                      </a:r>
                      <a:r>
                        <a:rPr lang="en-IN" dirty="0"/>
                        <a:t> :</a:t>
                      </a:r>
                    </a:p>
                    <a:p>
                      <a:r>
                        <a:rPr lang="en-IN" dirty="0"/>
                        <a:t>AVG COST - $135</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503489054"/>
                  </a:ext>
                </a:extLst>
              </a:tr>
            </a:tbl>
          </a:graphicData>
        </a:graphic>
      </p:graphicFrame>
      <p:graphicFrame>
        <p:nvGraphicFramePr>
          <p:cNvPr id="3" name="Table 2">
            <a:extLst>
              <a:ext uri="{FF2B5EF4-FFF2-40B4-BE49-F238E27FC236}">
                <a16:creationId xmlns:a16="http://schemas.microsoft.com/office/drawing/2014/main" id="{DD4BA28D-F16F-2699-FEE6-6297B9F2371C}"/>
              </a:ext>
            </a:extLst>
          </p:cNvPr>
          <p:cNvGraphicFramePr>
            <a:graphicFrameLocks noGrp="1"/>
          </p:cNvGraphicFramePr>
          <p:nvPr>
            <p:extLst>
              <p:ext uri="{D42A27DB-BD31-4B8C-83A1-F6EECF244321}">
                <p14:modId xmlns:p14="http://schemas.microsoft.com/office/powerpoint/2010/main" val="1630839271"/>
              </p:ext>
            </p:extLst>
          </p:nvPr>
        </p:nvGraphicFramePr>
        <p:xfrm>
          <a:off x="9442082" y="5822066"/>
          <a:ext cx="1979271" cy="474562"/>
        </p:xfrm>
        <a:graphic>
          <a:graphicData uri="http://schemas.openxmlformats.org/drawingml/2006/table">
            <a:tbl>
              <a:tblPr/>
              <a:tblGrid>
                <a:gridCol w="1979271">
                  <a:extLst>
                    <a:ext uri="{9D8B030D-6E8A-4147-A177-3AD203B41FA5}">
                      <a16:colId xmlns:a16="http://schemas.microsoft.com/office/drawing/2014/main" val="3186593428"/>
                    </a:ext>
                  </a:extLst>
                </a:gridCol>
              </a:tblGrid>
              <a:tr h="474562">
                <a:tc>
                  <a:txBody>
                    <a:bodyPr/>
                    <a:lstStyle/>
                    <a:p>
                      <a:r>
                        <a:rPr lang="en-US" dirty="0"/>
                        <a:t>Source : HubSpot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659615676"/>
                  </a:ext>
                </a:extLst>
              </a:tr>
            </a:tbl>
          </a:graphicData>
        </a:graphic>
      </p:graphicFrame>
    </p:spTree>
    <p:extLst>
      <p:ext uri="{BB962C8B-B14F-4D97-AF65-F5344CB8AC3E}">
        <p14:creationId xmlns:p14="http://schemas.microsoft.com/office/powerpoint/2010/main" val="14977651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DCD6-291C-376B-B648-5F5D4DC71296}"/>
              </a:ext>
            </a:extLst>
          </p:cNvPr>
          <p:cNvSpPr>
            <a:spLocks noGrp="1"/>
          </p:cNvSpPr>
          <p:nvPr>
            <p:ph type="title"/>
          </p:nvPr>
        </p:nvSpPr>
        <p:spPr/>
        <p:txBody>
          <a:bodyPr/>
          <a:lstStyle/>
          <a:p>
            <a:r>
              <a:rPr lang="en-IN" dirty="0"/>
              <a:t>Inbound Marketing is about …</a:t>
            </a:r>
          </a:p>
        </p:txBody>
      </p:sp>
      <p:pic>
        <p:nvPicPr>
          <p:cNvPr id="6" name="Content Placeholder 5" descr="Newspaper with solid fill">
            <a:extLst>
              <a:ext uri="{FF2B5EF4-FFF2-40B4-BE49-F238E27FC236}">
                <a16:creationId xmlns:a16="http://schemas.microsoft.com/office/drawing/2014/main" id="{46073A31-5A4D-6763-D466-DB5D9D7264B6}"/>
              </a:ext>
            </a:extLst>
          </p:cNvPr>
          <p:cNvPicPr>
            <a:picLocks noGrp="1" noChangeAspect="1"/>
          </p:cNvPicPr>
          <p:nvPr>
            <p:ph sz="half" idx="1"/>
          </p:nvPr>
        </p:nvPicPr>
        <p:blipFill>
          <a:blip r:embed="rId2">
            <a:extLst>
              <a:ext uri="{96DAC541-7B7A-43D3-8B79-37D633B846F1}">
                <asvg:svgBlip xmlns:asvg="http://schemas.microsoft.com/office/drawing/2016/SVG/main" r:embed="rId3"/>
              </a:ext>
            </a:extLst>
          </a:blip>
          <a:stretch>
            <a:fillRect/>
          </a:stretch>
        </p:blipFill>
        <p:spPr>
          <a:xfrm>
            <a:off x="2668689" y="3299951"/>
            <a:ext cx="914400" cy="914400"/>
          </a:xfrm>
        </p:spPr>
      </p:pic>
      <p:pic>
        <p:nvPicPr>
          <p:cNvPr id="14" name="Graphic 13" descr="Camera with solid fill">
            <a:extLst>
              <a:ext uri="{FF2B5EF4-FFF2-40B4-BE49-F238E27FC236}">
                <a16:creationId xmlns:a16="http://schemas.microsoft.com/office/drawing/2014/main" id="{0C1100EE-00BF-BC85-2627-8EB088040D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46900" y="3299951"/>
            <a:ext cx="914400" cy="914400"/>
          </a:xfrm>
          <a:prstGeom prst="rect">
            <a:avLst/>
          </a:prstGeom>
        </p:spPr>
      </p:pic>
      <p:graphicFrame>
        <p:nvGraphicFramePr>
          <p:cNvPr id="17" name="Table 16">
            <a:extLst>
              <a:ext uri="{FF2B5EF4-FFF2-40B4-BE49-F238E27FC236}">
                <a16:creationId xmlns:a16="http://schemas.microsoft.com/office/drawing/2014/main" id="{0E2369D7-EB67-C528-A89D-D3E0E81AAAC4}"/>
              </a:ext>
            </a:extLst>
          </p:cNvPr>
          <p:cNvGraphicFramePr>
            <a:graphicFrameLocks noGrp="1"/>
          </p:cNvGraphicFramePr>
          <p:nvPr>
            <p:extLst>
              <p:ext uri="{D42A27DB-BD31-4B8C-83A1-F6EECF244321}">
                <p14:modId xmlns:p14="http://schemas.microsoft.com/office/powerpoint/2010/main" val="800806167"/>
              </p:ext>
            </p:extLst>
          </p:nvPr>
        </p:nvGraphicFramePr>
        <p:xfrm>
          <a:off x="2311369" y="4343400"/>
          <a:ext cx="1424505" cy="365760"/>
        </p:xfrm>
        <a:graphic>
          <a:graphicData uri="http://schemas.openxmlformats.org/drawingml/2006/table">
            <a:tbl>
              <a:tblPr/>
              <a:tblGrid>
                <a:gridCol w="1424505">
                  <a:extLst>
                    <a:ext uri="{9D8B030D-6E8A-4147-A177-3AD203B41FA5}">
                      <a16:colId xmlns:a16="http://schemas.microsoft.com/office/drawing/2014/main" val="1415462568"/>
                    </a:ext>
                  </a:extLst>
                </a:gridCol>
              </a:tblGrid>
              <a:tr h="275303">
                <a:tc>
                  <a:txBody>
                    <a:bodyPr/>
                    <a:lstStyle/>
                    <a:p>
                      <a:pPr algn="ctr"/>
                      <a:r>
                        <a:rPr lang="en-IN" dirty="0"/>
                        <a:t>Blogs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820686182"/>
                  </a:ext>
                </a:extLst>
              </a:tr>
            </a:tbl>
          </a:graphicData>
        </a:graphic>
      </p:graphicFrame>
      <p:graphicFrame>
        <p:nvGraphicFramePr>
          <p:cNvPr id="18" name="Table 17">
            <a:extLst>
              <a:ext uri="{FF2B5EF4-FFF2-40B4-BE49-F238E27FC236}">
                <a16:creationId xmlns:a16="http://schemas.microsoft.com/office/drawing/2014/main" id="{D7D9062C-239C-0F36-AE27-412238288984}"/>
              </a:ext>
            </a:extLst>
          </p:cNvPr>
          <p:cNvGraphicFramePr>
            <a:graphicFrameLocks noGrp="1"/>
          </p:cNvGraphicFramePr>
          <p:nvPr>
            <p:extLst>
              <p:ext uri="{D42A27DB-BD31-4B8C-83A1-F6EECF244321}">
                <p14:modId xmlns:p14="http://schemas.microsoft.com/office/powerpoint/2010/main" val="985931949"/>
              </p:ext>
            </p:extLst>
          </p:nvPr>
        </p:nvGraphicFramePr>
        <p:xfrm>
          <a:off x="4233440" y="4343400"/>
          <a:ext cx="1424505" cy="365760"/>
        </p:xfrm>
        <a:graphic>
          <a:graphicData uri="http://schemas.openxmlformats.org/drawingml/2006/table">
            <a:tbl>
              <a:tblPr/>
              <a:tblGrid>
                <a:gridCol w="1424505">
                  <a:extLst>
                    <a:ext uri="{9D8B030D-6E8A-4147-A177-3AD203B41FA5}">
                      <a16:colId xmlns:a16="http://schemas.microsoft.com/office/drawing/2014/main" val="1415462568"/>
                    </a:ext>
                  </a:extLst>
                </a:gridCol>
              </a:tblGrid>
              <a:tr h="262521">
                <a:tc>
                  <a:txBody>
                    <a:bodyPr/>
                    <a:lstStyle/>
                    <a:p>
                      <a:pPr algn="ctr"/>
                      <a:r>
                        <a:rPr lang="en-IN" dirty="0"/>
                        <a:t>Photos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820686182"/>
                  </a:ext>
                </a:extLst>
              </a:tr>
            </a:tbl>
          </a:graphicData>
        </a:graphic>
      </p:graphicFrame>
      <p:graphicFrame>
        <p:nvGraphicFramePr>
          <p:cNvPr id="19" name="Table 18">
            <a:extLst>
              <a:ext uri="{FF2B5EF4-FFF2-40B4-BE49-F238E27FC236}">
                <a16:creationId xmlns:a16="http://schemas.microsoft.com/office/drawing/2014/main" id="{756CD5AA-1E7F-5F14-F061-6790B9829D95}"/>
              </a:ext>
            </a:extLst>
          </p:cNvPr>
          <p:cNvGraphicFramePr>
            <a:graphicFrameLocks noGrp="1"/>
          </p:cNvGraphicFramePr>
          <p:nvPr>
            <p:extLst>
              <p:ext uri="{D42A27DB-BD31-4B8C-83A1-F6EECF244321}">
                <p14:modId xmlns:p14="http://schemas.microsoft.com/office/powerpoint/2010/main" val="1925399872"/>
              </p:ext>
            </p:extLst>
          </p:nvPr>
        </p:nvGraphicFramePr>
        <p:xfrm>
          <a:off x="8033722" y="4415914"/>
          <a:ext cx="1730094" cy="365760"/>
        </p:xfrm>
        <a:graphic>
          <a:graphicData uri="http://schemas.openxmlformats.org/drawingml/2006/table">
            <a:tbl>
              <a:tblPr/>
              <a:tblGrid>
                <a:gridCol w="1730094">
                  <a:extLst>
                    <a:ext uri="{9D8B030D-6E8A-4147-A177-3AD203B41FA5}">
                      <a16:colId xmlns:a16="http://schemas.microsoft.com/office/drawing/2014/main" val="1415462568"/>
                    </a:ext>
                  </a:extLst>
                </a:gridCol>
              </a:tblGrid>
              <a:tr h="275303">
                <a:tc>
                  <a:txBody>
                    <a:bodyPr/>
                    <a:lstStyle/>
                    <a:p>
                      <a:pPr algn="ctr"/>
                      <a:r>
                        <a:rPr lang="en-IN" dirty="0"/>
                        <a:t>Presentation</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820686182"/>
                  </a:ext>
                </a:extLst>
              </a:tr>
            </a:tbl>
          </a:graphicData>
        </a:graphic>
      </p:graphicFrame>
      <p:pic>
        <p:nvPicPr>
          <p:cNvPr id="21" name="Graphic 20" descr="Clapper board with solid fill">
            <a:extLst>
              <a:ext uri="{FF2B5EF4-FFF2-40B4-BE49-F238E27FC236}">
                <a16:creationId xmlns:a16="http://schemas.microsoft.com/office/drawing/2014/main" id="{C332EB0D-0335-502F-17EF-AF1CB4CBF8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25111" y="3299951"/>
            <a:ext cx="914400" cy="914400"/>
          </a:xfrm>
          <a:prstGeom prst="rect">
            <a:avLst/>
          </a:prstGeom>
        </p:spPr>
      </p:pic>
      <p:graphicFrame>
        <p:nvGraphicFramePr>
          <p:cNvPr id="22" name="Table 21">
            <a:extLst>
              <a:ext uri="{FF2B5EF4-FFF2-40B4-BE49-F238E27FC236}">
                <a16:creationId xmlns:a16="http://schemas.microsoft.com/office/drawing/2014/main" id="{612E2DE4-90E9-B99C-895F-350D8C34F24B}"/>
              </a:ext>
            </a:extLst>
          </p:cNvPr>
          <p:cNvGraphicFramePr>
            <a:graphicFrameLocks noGrp="1"/>
          </p:cNvGraphicFramePr>
          <p:nvPr>
            <p:extLst>
              <p:ext uri="{D42A27DB-BD31-4B8C-83A1-F6EECF244321}">
                <p14:modId xmlns:p14="http://schemas.microsoft.com/office/powerpoint/2010/main" val="2464285023"/>
              </p:ext>
            </p:extLst>
          </p:nvPr>
        </p:nvGraphicFramePr>
        <p:xfrm>
          <a:off x="6228466" y="4370194"/>
          <a:ext cx="1307690" cy="365760"/>
        </p:xfrm>
        <a:graphic>
          <a:graphicData uri="http://schemas.openxmlformats.org/drawingml/2006/table">
            <a:tbl>
              <a:tblPr/>
              <a:tblGrid>
                <a:gridCol w="1307690">
                  <a:extLst>
                    <a:ext uri="{9D8B030D-6E8A-4147-A177-3AD203B41FA5}">
                      <a16:colId xmlns:a16="http://schemas.microsoft.com/office/drawing/2014/main" val="1415462568"/>
                    </a:ext>
                  </a:extLst>
                </a:gridCol>
              </a:tblGrid>
              <a:tr h="262521">
                <a:tc>
                  <a:txBody>
                    <a:bodyPr/>
                    <a:lstStyle/>
                    <a:p>
                      <a:pPr algn="ctr"/>
                      <a:r>
                        <a:rPr lang="en-IN" dirty="0"/>
                        <a:t>Videos </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820686182"/>
                  </a:ext>
                </a:extLst>
              </a:tr>
            </a:tbl>
          </a:graphicData>
        </a:graphic>
      </p:graphicFrame>
      <p:pic>
        <p:nvPicPr>
          <p:cNvPr id="4" name="Graphic 3" descr="Teacher with solid fill">
            <a:extLst>
              <a:ext uri="{FF2B5EF4-FFF2-40B4-BE49-F238E27FC236}">
                <a16:creationId xmlns:a16="http://schemas.microsoft.com/office/drawing/2014/main" id="{DC945D41-E928-50A1-3647-DAFD798C28A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41569" y="3299951"/>
            <a:ext cx="914400" cy="914400"/>
          </a:xfrm>
          <a:prstGeom prst="rect">
            <a:avLst/>
          </a:prstGeom>
        </p:spPr>
      </p:pic>
    </p:spTree>
    <p:extLst>
      <p:ext uri="{BB962C8B-B14F-4D97-AF65-F5344CB8AC3E}">
        <p14:creationId xmlns:p14="http://schemas.microsoft.com/office/powerpoint/2010/main" val="179338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A5BEDE-80A5-C694-F781-C1ADDEE1AC6A}"/>
              </a:ext>
            </a:extLst>
          </p:cNvPr>
          <p:cNvSpPr>
            <a:spLocks noGrp="1"/>
          </p:cNvSpPr>
          <p:nvPr>
            <p:ph idx="1"/>
          </p:nvPr>
        </p:nvSpPr>
        <p:spPr>
          <a:xfrm>
            <a:off x="1582633" y="1683773"/>
            <a:ext cx="10018713" cy="4461388"/>
          </a:xfrm>
        </p:spPr>
        <p:txBody>
          <a:bodyPr>
            <a:normAutofit fontScale="85000" lnSpcReduction="20000"/>
          </a:bodyPr>
          <a:lstStyle/>
          <a:p>
            <a:pPr marL="0" indent="0">
              <a:buNone/>
            </a:pPr>
            <a:r>
              <a:rPr lang="en-US" sz="3100" dirty="0"/>
              <a:t>By publishing the right content in the right place at the right time ,your marketing becomes relevant and helpful to your customers ,not irritative.</a:t>
            </a:r>
          </a:p>
          <a:p>
            <a:pPr marL="0" indent="0">
              <a:buNone/>
            </a:pPr>
            <a:endParaRPr lang="en-US" dirty="0"/>
          </a:p>
          <a:p>
            <a:pPr marL="0" indent="0">
              <a:buNone/>
            </a:pPr>
            <a:endParaRPr lang="en-US" dirty="0"/>
          </a:p>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sz="4400" dirty="0"/>
              <a:t>Now </a:t>
            </a:r>
            <a:r>
              <a:rPr lang="en-US" sz="4400" dirty="0"/>
              <a:t>that’s marketing people can love.</a:t>
            </a:r>
            <a:endParaRPr lang="en-IN" sz="4400" dirty="0"/>
          </a:p>
        </p:txBody>
      </p:sp>
      <p:pic>
        <p:nvPicPr>
          <p:cNvPr id="8" name="Picture 7">
            <a:extLst>
              <a:ext uri="{FF2B5EF4-FFF2-40B4-BE49-F238E27FC236}">
                <a16:creationId xmlns:a16="http://schemas.microsoft.com/office/drawing/2014/main" id="{4DCA5382-3454-B900-B267-9D5816994C78}"/>
              </a:ext>
            </a:extLst>
          </p:cNvPr>
          <p:cNvPicPr>
            <a:picLocks noChangeAspect="1"/>
          </p:cNvPicPr>
          <p:nvPr/>
        </p:nvPicPr>
        <p:blipFill>
          <a:blip r:embed="rId2"/>
          <a:stretch>
            <a:fillRect/>
          </a:stretch>
        </p:blipFill>
        <p:spPr>
          <a:xfrm>
            <a:off x="4083149" y="2930013"/>
            <a:ext cx="4025702" cy="2244214"/>
          </a:xfrm>
          <a:prstGeom prst="rect">
            <a:avLst/>
          </a:prstGeom>
        </p:spPr>
      </p:pic>
    </p:spTree>
    <p:extLst>
      <p:ext uri="{BB962C8B-B14F-4D97-AF65-F5344CB8AC3E}">
        <p14:creationId xmlns:p14="http://schemas.microsoft.com/office/powerpoint/2010/main" val="27311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E868D-8336-020D-B8B2-6C6576DAB7D0}"/>
              </a:ext>
            </a:extLst>
          </p:cNvPr>
          <p:cNvSpPr>
            <a:spLocks noGrp="1"/>
          </p:cNvSpPr>
          <p:nvPr>
            <p:ph type="title"/>
          </p:nvPr>
        </p:nvSpPr>
        <p:spPr/>
        <p:txBody>
          <a:bodyPr/>
          <a:lstStyle/>
          <a:p>
            <a:r>
              <a:rPr lang="en-US" dirty="0"/>
              <a:t>It’s Multi-Channel Marketing </a:t>
            </a:r>
            <a:endParaRPr lang="en-IN" dirty="0"/>
          </a:p>
        </p:txBody>
      </p:sp>
      <p:sp>
        <p:nvSpPr>
          <p:cNvPr id="3" name="Content Placeholder 2">
            <a:extLst>
              <a:ext uri="{FF2B5EF4-FFF2-40B4-BE49-F238E27FC236}">
                <a16:creationId xmlns:a16="http://schemas.microsoft.com/office/drawing/2014/main" id="{0FA775B3-A08B-1769-9866-D69F8ECBA632}"/>
              </a:ext>
            </a:extLst>
          </p:cNvPr>
          <p:cNvSpPr>
            <a:spLocks noGrp="1"/>
          </p:cNvSpPr>
          <p:nvPr>
            <p:ph idx="1"/>
          </p:nvPr>
        </p:nvSpPr>
        <p:spPr>
          <a:xfrm>
            <a:off x="1484311" y="2438399"/>
            <a:ext cx="10018713" cy="3578915"/>
          </a:xfrm>
        </p:spPr>
        <p:txBody>
          <a:bodyPr/>
          <a:lstStyle/>
          <a:p>
            <a:pPr>
              <a:buClr>
                <a:schemeClr val="tx1"/>
              </a:buClr>
              <a:buFont typeface="Wingdings" panose="05000000000000000000" pitchFamily="2" charset="2"/>
              <a:buChar char="§"/>
            </a:pPr>
            <a:r>
              <a:rPr lang="en-US" dirty="0"/>
              <a:t>Inbound Marketing is multi-channel by nature because it approaches people where they are, in the channel where they want to interact with you.</a:t>
            </a:r>
          </a:p>
          <a:p>
            <a:pPr marL="0" indent="0">
              <a:buClr>
                <a:schemeClr val="tx1"/>
              </a:buClr>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61A6278E-A6A1-E3BB-0AA2-4CD18221FF21}"/>
              </a:ext>
            </a:extLst>
          </p:cNvPr>
          <p:cNvPicPr>
            <a:picLocks noChangeAspect="1"/>
          </p:cNvPicPr>
          <p:nvPr/>
        </p:nvPicPr>
        <p:blipFill>
          <a:blip r:embed="rId2"/>
          <a:stretch>
            <a:fillRect/>
          </a:stretch>
        </p:blipFill>
        <p:spPr>
          <a:xfrm>
            <a:off x="3254477" y="3429000"/>
            <a:ext cx="6528620" cy="2418237"/>
          </a:xfrm>
          <a:prstGeom prst="rect">
            <a:avLst/>
          </a:prstGeom>
        </p:spPr>
      </p:pic>
    </p:spTree>
    <p:extLst>
      <p:ext uri="{BB962C8B-B14F-4D97-AF65-F5344CB8AC3E}">
        <p14:creationId xmlns:p14="http://schemas.microsoft.com/office/powerpoint/2010/main" val="3696884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56B8-40C0-9866-355B-B0BD8B21899B}"/>
              </a:ext>
            </a:extLst>
          </p:cNvPr>
          <p:cNvSpPr>
            <a:spLocks noGrp="1"/>
          </p:cNvSpPr>
          <p:nvPr>
            <p:ph type="title"/>
          </p:nvPr>
        </p:nvSpPr>
        <p:spPr/>
        <p:txBody>
          <a:bodyPr/>
          <a:lstStyle/>
          <a:p>
            <a:r>
              <a:rPr lang="en-US" dirty="0"/>
              <a:t>Inbound Creates More Leads</a:t>
            </a:r>
            <a:endParaRPr lang="en-IN" dirty="0"/>
          </a:p>
        </p:txBody>
      </p:sp>
      <p:pic>
        <p:nvPicPr>
          <p:cNvPr id="5" name="Content Placeholder 4">
            <a:extLst>
              <a:ext uri="{FF2B5EF4-FFF2-40B4-BE49-F238E27FC236}">
                <a16:creationId xmlns:a16="http://schemas.microsoft.com/office/drawing/2014/main" id="{E9BA1446-209B-539C-4815-9E059BCADC6A}"/>
              </a:ext>
            </a:extLst>
          </p:cNvPr>
          <p:cNvPicPr>
            <a:picLocks noGrp="1" noChangeAspect="1"/>
          </p:cNvPicPr>
          <p:nvPr>
            <p:ph idx="1"/>
          </p:nvPr>
        </p:nvPicPr>
        <p:blipFill>
          <a:blip r:embed="rId2"/>
          <a:stretch>
            <a:fillRect/>
          </a:stretch>
        </p:blipFill>
        <p:spPr>
          <a:xfrm>
            <a:off x="2733368" y="2277543"/>
            <a:ext cx="7344697" cy="3782153"/>
          </a:xfrm>
        </p:spPr>
      </p:pic>
    </p:spTree>
    <p:extLst>
      <p:ext uri="{BB962C8B-B14F-4D97-AF65-F5344CB8AC3E}">
        <p14:creationId xmlns:p14="http://schemas.microsoft.com/office/powerpoint/2010/main" val="292468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71481-FC74-67DD-32CD-55A78779A671}"/>
              </a:ext>
            </a:extLst>
          </p:cNvPr>
          <p:cNvSpPr>
            <a:spLocks noGrp="1"/>
          </p:cNvSpPr>
          <p:nvPr>
            <p:ph type="title"/>
          </p:nvPr>
        </p:nvSpPr>
        <p:spPr>
          <a:xfrm>
            <a:off x="1454813" y="1521543"/>
            <a:ext cx="10068593" cy="3984522"/>
          </a:xfrm>
        </p:spPr>
        <p:txBody>
          <a:bodyPr>
            <a:noAutofit/>
          </a:bodyPr>
          <a:lstStyle/>
          <a:p>
            <a:r>
              <a:rPr lang="en-US" sz="6000" dirty="0"/>
              <a:t>Inbound</a:t>
            </a:r>
            <a:br>
              <a:rPr lang="en-US" sz="6000" dirty="0"/>
            </a:br>
            <a:r>
              <a:rPr lang="en-US" sz="6000" dirty="0"/>
              <a:t> is the future of </a:t>
            </a:r>
            <a:br>
              <a:rPr lang="en-US" sz="6000" dirty="0"/>
            </a:br>
            <a:r>
              <a:rPr lang="en-US" sz="6000" dirty="0">
                <a:solidFill>
                  <a:schemeClr val="accent3"/>
                </a:solidFill>
              </a:rPr>
              <a:t>Marketing </a:t>
            </a:r>
            <a:endParaRPr lang="en-IN" sz="6000" dirty="0">
              <a:solidFill>
                <a:schemeClr val="accent3"/>
              </a:solidFill>
            </a:endParaRPr>
          </a:p>
        </p:txBody>
      </p:sp>
    </p:spTree>
    <p:extLst>
      <p:ext uri="{BB962C8B-B14F-4D97-AF65-F5344CB8AC3E}">
        <p14:creationId xmlns:p14="http://schemas.microsoft.com/office/powerpoint/2010/main" val="8146696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C5B1E33-CA40-2129-3E11-9C742AFCB3AA}"/>
              </a:ext>
            </a:extLst>
          </p:cNvPr>
          <p:cNvGraphicFramePr>
            <a:graphicFrameLocks noGrp="1"/>
          </p:cNvGraphicFramePr>
          <p:nvPr>
            <p:extLst>
              <p:ext uri="{D42A27DB-BD31-4B8C-83A1-F6EECF244321}">
                <p14:modId xmlns:p14="http://schemas.microsoft.com/office/powerpoint/2010/main" val="2984160511"/>
              </p:ext>
            </p:extLst>
          </p:nvPr>
        </p:nvGraphicFramePr>
        <p:xfrm>
          <a:off x="3106994" y="1347019"/>
          <a:ext cx="8042787" cy="4088575"/>
        </p:xfrm>
        <a:graphic>
          <a:graphicData uri="http://schemas.openxmlformats.org/drawingml/2006/table">
            <a:tbl>
              <a:tblPr/>
              <a:tblGrid>
                <a:gridCol w="8042787">
                  <a:extLst>
                    <a:ext uri="{9D8B030D-6E8A-4147-A177-3AD203B41FA5}">
                      <a16:colId xmlns:a16="http://schemas.microsoft.com/office/drawing/2014/main" val="2822045984"/>
                    </a:ext>
                  </a:extLst>
                </a:gridCol>
              </a:tblGrid>
              <a:tr h="3834581">
                <a:tc>
                  <a:txBody>
                    <a:bodyPr/>
                    <a:lstStyle/>
                    <a:p>
                      <a:pPr algn="ctr"/>
                      <a:r>
                        <a:rPr lang="en-US" sz="5000" dirty="0"/>
                        <a:t>References</a:t>
                      </a:r>
                    </a:p>
                    <a:p>
                      <a:pPr marL="342900" indent="-342900" algn="l">
                        <a:lnSpc>
                          <a:spcPct val="150000"/>
                        </a:lnSpc>
                        <a:buFont typeface="Wingdings" panose="05000000000000000000" pitchFamily="2" charset="2"/>
                        <a:buChar char="§"/>
                      </a:pPr>
                      <a:r>
                        <a:rPr lang="en-US" sz="2400" dirty="0">
                          <a:hlinkClick r:id="rId2"/>
                        </a:rPr>
                        <a:t>https://www.hubspot.com/inbound-marketing</a:t>
                      </a:r>
                      <a:endParaRPr lang="en-US" sz="2400" dirty="0"/>
                    </a:p>
                    <a:p>
                      <a:pPr marL="342900" indent="-342900" algn="l">
                        <a:lnSpc>
                          <a:spcPct val="150000"/>
                        </a:lnSpc>
                        <a:buFont typeface="Wingdings" panose="05000000000000000000" pitchFamily="2" charset="2"/>
                        <a:buChar char="§"/>
                      </a:pPr>
                      <a:r>
                        <a:rPr lang="en-IN" sz="2400" dirty="0">
                          <a:hlinkClick r:id="rId3"/>
                        </a:rPr>
                        <a:t>https://digitalmarketinginstitute.com/blog/what-is-inbound-marketing</a:t>
                      </a:r>
                      <a:endParaRPr lang="en-IN" sz="2400" dirty="0"/>
                    </a:p>
                    <a:p>
                      <a:pPr marL="342900" indent="-342900" algn="l">
                        <a:lnSpc>
                          <a:spcPct val="150000"/>
                        </a:lnSpc>
                        <a:buFont typeface="Wingdings" panose="05000000000000000000" pitchFamily="2" charset="2"/>
                        <a:buChar char="§"/>
                      </a:pPr>
                      <a:r>
                        <a:rPr lang="en-IN" sz="2400" dirty="0">
                          <a:hlinkClick r:id="rId4"/>
                        </a:rPr>
                        <a:t>https://advertising.amazon.com/library/guides/inbound-marketing</a:t>
                      </a:r>
                      <a:endParaRPr lang="en-IN" sz="2400" dirty="0"/>
                    </a:p>
                    <a:p>
                      <a:pPr marL="342900" indent="-342900" algn="l">
                        <a:lnSpc>
                          <a:spcPct val="150000"/>
                        </a:lnSpc>
                        <a:buFont typeface="Wingdings" panose="05000000000000000000" pitchFamily="2" charset="2"/>
                        <a:buChar char="§"/>
                      </a:pPr>
                      <a:endParaRPr lang="en-IN" sz="2400"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2912671"/>
                  </a:ext>
                </a:extLst>
              </a:tr>
            </a:tbl>
          </a:graphicData>
        </a:graphic>
      </p:graphicFrame>
    </p:spTree>
    <p:extLst>
      <p:ext uri="{BB962C8B-B14F-4D97-AF65-F5344CB8AC3E}">
        <p14:creationId xmlns:p14="http://schemas.microsoft.com/office/powerpoint/2010/main" val="284736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13DED-D63D-8CFD-11F9-33A4C058885B}"/>
              </a:ext>
            </a:extLst>
          </p:cNvPr>
          <p:cNvSpPr>
            <a:spLocks noGrp="1"/>
          </p:cNvSpPr>
          <p:nvPr>
            <p:ph type="title"/>
          </p:nvPr>
        </p:nvSpPr>
        <p:spPr>
          <a:xfrm>
            <a:off x="2113755" y="2051255"/>
            <a:ext cx="8318450" cy="2755490"/>
          </a:xfrm>
        </p:spPr>
        <p:txBody>
          <a:bodyPr>
            <a:normAutofit/>
          </a:bodyPr>
          <a:lstStyle/>
          <a:p>
            <a:r>
              <a:rPr lang="en-US" sz="9000" b="1" dirty="0"/>
              <a:t>THANK  </a:t>
            </a:r>
            <a:r>
              <a:rPr lang="en-US" sz="9000" b="1" dirty="0">
                <a:solidFill>
                  <a:schemeClr val="accent3"/>
                </a:solidFill>
              </a:rPr>
              <a:t>YOU</a:t>
            </a:r>
            <a:endParaRPr lang="en-IN" sz="9000" b="1" dirty="0">
              <a:solidFill>
                <a:schemeClr val="accent3"/>
              </a:solidFill>
            </a:endParaRPr>
          </a:p>
        </p:txBody>
      </p:sp>
    </p:spTree>
    <p:extLst>
      <p:ext uri="{BB962C8B-B14F-4D97-AF65-F5344CB8AC3E}">
        <p14:creationId xmlns:p14="http://schemas.microsoft.com/office/powerpoint/2010/main" val="59926453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333</TotalTime>
  <Words>603</Words>
  <Application>Microsoft Office PowerPoint</Application>
  <PresentationFormat>Widescreen</PresentationFormat>
  <Paragraphs>113</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Corbel</vt:lpstr>
      <vt:lpstr>Times New Roman</vt:lpstr>
      <vt:lpstr>Wingdings</vt:lpstr>
      <vt:lpstr>Parallax</vt:lpstr>
      <vt:lpstr>INBOUND MARKETING </vt:lpstr>
      <vt:lpstr>OBJECTIVES</vt:lpstr>
      <vt:lpstr>What is Inbound Marketing ?</vt:lpstr>
      <vt:lpstr>Inbound  Vs  Outbound</vt:lpstr>
      <vt:lpstr>What Makes Inbound Different?</vt:lpstr>
      <vt:lpstr>Inbound Methodology</vt:lpstr>
      <vt:lpstr>Characteristics of Inbound Marketing </vt:lpstr>
      <vt:lpstr>Ways of Inbound Marketing</vt:lpstr>
      <vt:lpstr>Ways of Inbound Marketing</vt:lpstr>
      <vt:lpstr>PowerPoint Presentation</vt:lpstr>
      <vt:lpstr>Cooperation vs Collaboration </vt:lpstr>
      <vt:lpstr>Advantages of Inbound marketing</vt:lpstr>
      <vt:lpstr>Inbound leads cost 61% less than outbound</vt:lpstr>
      <vt:lpstr>Inbound Marketing is about …</vt:lpstr>
      <vt:lpstr>PowerPoint Presentation</vt:lpstr>
      <vt:lpstr>It’s Multi-Channel Marketing </vt:lpstr>
      <vt:lpstr>Inbound Creates More Leads</vt:lpstr>
      <vt:lpstr>Inbound  is the future of  Marketing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Khushal Solanki</dc:creator>
  <cp:lastModifiedBy>Shubham Jha</cp:lastModifiedBy>
  <cp:revision>37</cp:revision>
  <dcterms:created xsi:type="dcterms:W3CDTF">2024-08-10T14:35:11Z</dcterms:created>
  <dcterms:modified xsi:type="dcterms:W3CDTF">2024-10-19T06:19:57Z</dcterms:modified>
</cp:coreProperties>
</file>